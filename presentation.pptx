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11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2396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kita-connect.cloud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eugnmueller-87/final-project-eugen" TargetMode="External"/><Relationship Id="rId4" Type="http://schemas.openxmlformats.org/officeDocument/2006/relationships/hyperlink" Target="https://github.com/eugnmueller-87/DIGITNEW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Aushang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4F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Digitizing the paper notice board without changing the process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02920" y="2578608"/>
            <a:ext cx="4572000" cy="36576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502920" y="26974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Eugen Mueller  |  AI Consulting Bootcamp — Ironhack Berlin  |  June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89720" y="82296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0169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9189720" y="868680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89720" y="132588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real-world testing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89720" y="187452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kita-connect.cloud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401568"/>
            <a:ext cx="3337560" cy="1417320"/>
          </a:xfrm>
          <a:prstGeom prst="rect">
            <a:avLst/>
          </a:prstGeom>
          <a:solidFill>
            <a:srgbClr val="22223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667512" y="3511296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7512" y="3895344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boards trap information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160520" y="3401568"/>
            <a:ext cx="3337560" cy="1417320"/>
          </a:xfrm>
          <a:prstGeom prst="rect">
            <a:avLst/>
          </a:prstGeom>
          <a:solidFill>
            <a:srgbClr val="22223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4325112" y="3511296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25112" y="3895344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redact + suggest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818120" y="3401568"/>
            <a:ext cx="3337560" cy="1417320"/>
          </a:xfrm>
          <a:prstGeom prst="rect">
            <a:avLst/>
          </a:prstGeom>
          <a:solidFill>
            <a:srgbClr val="22223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7982712" y="3511296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Principle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982712" y="3895344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advises. Human decides.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0" y="5138928"/>
            <a:ext cx="12192000" cy="1719072"/>
          </a:xfrm>
          <a:prstGeom prst="rect">
            <a:avLst/>
          </a:prstGeom>
          <a:solidFill>
            <a:srgbClr val="13132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502920" y="5349240"/>
            <a:ext cx="11155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0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reads the photograph. Redacts PII locally. Suggests structure. A human confirms. Then it publishes.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4F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502920" y="457200"/>
            <a:ext cx="1371600" cy="256032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84124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Traps of the Paper Board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02920" y="1572768"/>
            <a:ext cx="3520440" cy="2999232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685800" y="171907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685800" y="2304288"/>
            <a:ext cx="2926080" cy="27432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685800" y="2395728"/>
            <a:ext cx="3154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is trapped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926080"/>
            <a:ext cx="31546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the board = miss the Kita closure, the Thursday trip, the lice warning. No feed, no calendar, no digest. The information dies in a hallway.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51960" y="1572768"/>
            <a:ext cx="3520440" cy="2999232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4434840" y="171907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4434840" y="2304288"/>
            <a:ext cx="2926080" cy="27432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4434840" y="2395728"/>
            <a:ext cx="3154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Digitizing means extra work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34840" y="2926080"/>
            <a:ext cx="31546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Off-the-shelf answer: adopt an app. That means staff retype everything into a second system. One overworked admin won't do it — so they stay on paper.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01000" y="1572768"/>
            <a:ext cx="3520440" cy="2999232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8183880" y="171907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19" name="Shape 17"/>
          <p:cNvSpPr/>
          <p:nvPr/>
        </p:nvSpPr>
        <p:spPr>
          <a:xfrm>
            <a:off x="8183880" y="2304288"/>
            <a:ext cx="2926080" cy="27432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8183880" y="2395728"/>
            <a:ext cx="3154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is sensitive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83880" y="2926080"/>
            <a:ext cx="31546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Notices name children, parents, phone numbers. Pushing a Kita board photo to a generic cloud tool is a privacy problem these orgs are rightly nervous about.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5321808"/>
            <a:ext cx="11338560" cy="512064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594360" y="5321808"/>
            <a:ext cx="10972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orgs least able to adopt software are the ones whose members most need reachable information.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502920" y="457200"/>
            <a:ext cx="1371600" cy="256032"/>
          </a:xfrm>
          <a:prstGeom prst="rect">
            <a:avLst/>
          </a:prstGeom>
          <a:solidFill>
            <a:srgbClr val="4F98A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84124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Principles. Enforced by Architecture.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1627632"/>
            <a:ext cx="5394960" cy="4023360"/>
          </a:xfrm>
          <a:prstGeom prst="rect">
            <a:avLst/>
          </a:prstGeom>
          <a:solidFill>
            <a:srgbClr val="0F2637"/>
          </a:solidFill>
          <a:ln w="12700">
            <a:solidFill>
              <a:srgbClr val="01696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713232" y="1783080"/>
            <a:ext cx="777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13232" y="2395728"/>
            <a:ext cx="4983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Construction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13232" y="2926080"/>
            <a:ext cx="4983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is masked locally before any external call.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photos never leave the org's infrastructure.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un-redacted PII ever reaches the AI — enforced at the architecture layer, not by policy.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627632"/>
            <a:ext cx="5394960" cy="4023360"/>
          </a:xfrm>
          <a:prstGeom prst="rect">
            <a:avLst/>
          </a:prstGeom>
          <a:solidFill>
            <a:srgbClr val="0F2637"/>
          </a:solidFill>
          <a:ln w="12700">
            <a:solidFill>
              <a:srgbClr val="01696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6473952" y="1783080"/>
            <a:ext cx="777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73952" y="2395728"/>
            <a:ext cx="4983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Advises. Human Decides.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73952" y="2926080"/>
            <a:ext cx="4983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suggests a content type and extracts fields.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schema-validated. Validation failure routes to the manual path — never auto-publishes.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admin confirms before anything is published. Routing reads only the confirmed value — never the LLM suggestion.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84048" y="5989320"/>
            <a:ext cx="11356848" cy="475488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566928" y="5989320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principles keep Aushang out of EU AI Act High-risk.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4F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502920" y="457200"/>
            <a:ext cx="1371600" cy="256032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84124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Photograph to Published Post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90372" y="1719072"/>
            <a:ext cx="1481328" cy="1115568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690372" y="1755648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0372" y="2139696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photos the board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44852" y="1719072"/>
            <a:ext cx="1481328" cy="1115568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2244852" y="1755648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44852" y="2139696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+ Tesseract (DE)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799332" y="1719072"/>
            <a:ext cx="1481328" cy="1115568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3799332" y="1755648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Redact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99332" y="2139696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Presidio + spaCy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53812" y="1719072"/>
            <a:ext cx="1481328" cy="1115568"/>
          </a:xfrm>
          <a:prstGeom prst="rect">
            <a:avLst/>
          </a:prstGeom>
          <a:solidFill>
            <a:srgbClr val="1B474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5353812" y="1755648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53812" y="2139696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on redacted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only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908292" y="1719072"/>
            <a:ext cx="1481328" cy="1115568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6908292" y="1755648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08292" y="2139696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JSON schema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= manual path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462772" y="1719072"/>
            <a:ext cx="1481328" cy="1115568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8462772" y="1755648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Confirms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62772" y="2139696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Reviews, corrects,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0017252" y="1719072"/>
            <a:ext cx="1481328" cy="1115568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10017252" y="1755648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17252" y="2139696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/ Calendar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Push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84048" y="3063240"/>
            <a:ext cx="5486400" cy="1664208"/>
          </a:xfrm>
          <a:prstGeom prst="rect">
            <a:avLst/>
          </a:prstGeom>
          <a:solidFill>
            <a:srgbClr val="E0F0F1"/>
          </a:solidFill>
          <a:ln w="12700">
            <a:solidFill>
              <a:srgbClr val="01696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566928" y="317296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Boundary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66928" y="3566160"/>
            <a:ext cx="5120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locally-redacted text ever crosses to the AI.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photos never leave the org's infrastructure.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columns are REVOKE'd at the database layer.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99632" y="3063240"/>
            <a:ext cx="5486400" cy="1664208"/>
          </a:xfrm>
          <a:prstGeom prst="rect">
            <a:avLst/>
          </a:prstGeom>
          <a:solidFill>
            <a:srgbClr val="E0F0F1"/>
          </a:solidFill>
          <a:ln w="12700">
            <a:solidFill>
              <a:srgbClr val="01696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6382512" y="317296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82512" y="3566160"/>
            <a:ext cx="5120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member-visible posts need explicit admin confirmation.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reads only the admin-confirmed content type.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publish_post RPC is the sole path to member visibility.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84048" y="4919472"/>
            <a:ext cx="11301984" cy="1353312"/>
          </a:xfrm>
          <a:prstGeom prst="rect">
            <a:avLst/>
          </a:prstGeom>
          <a:solidFill>
            <a:srgbClr val="E8E6D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5" name="Text 33"/>
          <p:cNvSpPr/>
          <p:nvPr/>
        </p:nvSpPr>
        <p:spPr>
          <a:xfrm>
            <a:off x="566928" y="501091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receive: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66928" y="5394960"/>
            <a:ext cx="1508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feed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139696" y="5394960"/>
            <a:ext cx="1508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calendar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712464" y="5394960"/>
            <a:ext cx="1508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 subscription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85232" y="5394960"/>
            <a:ext cx="1508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digest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858000" y="5394960"/>
            <a:ext cx="1508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push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430768" y="5394960"/>
            <a:ext cx="1508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EN/DE UI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0003536" y="5394960"/>
            <a:ext cx="1508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app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502920" y="457200"/>
            <a:ext cx="1371600" cy="256032"/>
          </a:xfrm>
          <a:prstGeom prst="rect">
            <a:avLst/>
          </a:prstGeom>
          <a:solidFill>
            <a:srgbClr val="4F98A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NO-CODE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84124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n8n Workflows — Each Enforces the Boundary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2606040" cy="3822192"/>
          </a:xfrm>
          <a:prstGeom prst="rect">
            <a:avLst/>
          </a:prstGeom>
          <a:solidFill>
            <a:srgbClr val="0F2637"/>
          </a:solidFill>
          <a:ln w="12700">
            <a:solidFill>
              <a:srgbClr val="01696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640080" y="1719072"/>
            <a:ext cx="658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2249424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Redaction Boundary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PII locally, fail-closed assert.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redacted text crosses to Claude.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" y="3712464"/>
            <a:ext cx="2377440" cy="36576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640080" y="3822192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F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node owns masking. Claude never sees raw PII.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19272" y="1600200"/>
            <a:ext cx="2606040" cy="3822192"/>
          </a:xfrm>
          <a:prstGeom prst="rect">
            <a:avLst/>
          </a:prstGeom>
          <a:solidFill>
            <a:srgbClr val="0F2637"/>
          </a:solidFill>
          <a:ln w="12700">
            <a:solidFill>
              <a:srgbClr val="01696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3456432" y="1719072"/>
            <a:ext cx="658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456432" y="2249424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and Validate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56432" y="27432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suggests on redacted text.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schema-validate or manual path.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29000" y="3712464"/>
            <a:ext cx="2377440" cy="36576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3456432" y="3822192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F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failure routes to manual — never auto-publishes.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35624" y="1600200"/>
            <a:ext cx="2606040" cy="3822192"/>
          </a:xfrm>
          <a:prstGeom prst="rect">
            <a:avLst/>
          </a:prstGeom>
          <a:solidFill>
            <a:srgbClr val="0F2637"/>
          </a:solidFill>
          <a:ln w="12700">
            <a:solidFill>
              <a:srgbClr val="01696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6272784" y="1719072"/>
            <a:ext cx="658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272784" y="2249424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Confirm, Route, Publish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72784" y="27432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corrects the type, then publishes.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reads confirmed value only.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45352" y="3712464"/>
            <a:ext cx="2377440" cy="36576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6272784" y="3822192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F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flip the type and the route changes.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951976" y="1600200"/>
            <a:ext cx="2606040" cy="3822192"/>
          </a:xfrm>
          <a:prstGeom prst="rect">
            <a:avLst/>
          </a:prstGeom>
          <a:solidFill>
            <a:srgbClr val="0F2637"/>
          </a:solidFill>
          <a:ln w="12700">
            <a:solidFill>
              <a:srgbClr val="01696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9089136" y="1719072"/>
            <a:ext cx="658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9089136" y="2249424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Double-Gated Consent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089136" y="27432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photo released only on member opt-in AND admin release.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061704" y="3712464"/>
            <a:ext cx="2377440" cy="36576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9089136" y="3822192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F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gates must pass — either one blocking prevents release.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84048" y="5989320"/>
            <a:ext cx="11356848" cy="475488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566928" y="5989320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Workflows import directly into n8n and run on mock data. Code nodes own every decision; Claude only advises.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4F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502920" y="457200"/>
            <a:ext cx="1371600" cy="256032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84124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Construction — Not by Promise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84048" y="1627632"/>
            <a:ext cx="475488" cy="1051560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384048" y="1627632"/>
            <a:ext cx="4754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32688" y="1673352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fail-closed redaction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" y="2029968"/>
            <a:ext cx="51206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Presidio + spaCy + German regex before any external call. On uncertainty it redacts. Placeholders like masked-name and masked-phone reach Claude — never real PII.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2788920"/>
            <a:ext cx="475488" cy="1051560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384048" y="2788920"/>
            <a:ext cx="4754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2834640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column REVOKE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32688" y="3191256"/>
            <a:ext cx="51206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Raw-PII columns (ocr_text_raw, source_image_path) are REVOKE'd at the Supabase layer. An admin browser cannot read them.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" y="3950208"/>
            <a:ext cx="475488" cy="1051560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384048" y="3950208"/>
            <a:ext cx="4754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32688" y="3995928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Double-gated photo consent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32688" y="4352544"/>
            <a:ext cx="51206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photo released only when both gates pass: member opt-in AND admin explicit release. Served via short-TTL signed URLs only.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99632" y="1627632"/>
            <a:ext cx="475488" cy="1051560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6199632" y="1627632"/>
            <a:ext cx="4754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748272" y="1673352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photo deleted at publish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48272" y="2029968"/>
            <a:ext cx="51206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Ruckblick posts (most likely to show children) have their raw original deleted from the bucket at publish. source_image_path is nulled. Migration 0023.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99632" y="2788920"/>
            <a:ext cx="475488" cy="1051560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6199632" y="2788920"/>
            <a:ext cx="4754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748272" y="2834640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Build-blocking secret scan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48272" y="3191256"/>
            <a:ext cx="51206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pipeline runs a source-secret scan. A leaked service-role or LLM key blocks the build before deploy. The key never ships to the browser.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99632" y="3950208"/>
            <a:ext cx="475488" cy="1051560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6199632" y="3950208"/>
            <a:ext cx="4754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748272" y="3995928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security review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748272" y="4352544"/>
            <a:ext cx="51206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Four-layer model (middleware, server helpers, security-definer RPCs, RLS + column grants) reviewed adversarially. Documented in SECURITY.md.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84048" y="5961888"/>
            <a:ext cx="11356848" cy="54864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566928" y="596188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property: no raw image and no un-redacted PII is ever sent to the external LLM. Redaction is upstream of every external call, by architecture.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502920" y="457200"/>
            <a:ext cx="1371600" cy="256032"/>
          </a:xfrm>
          <a:prstGeom prst="rect">
            <a:avLst/>
          </a:prstGeom>
          <a:solidFill>
            <a:srgbClr val="4F98A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LIVE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84124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System — Not a Mockup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1664208"/>
            <a:ext cx="5532120" cy="2084832"/>
          </a:xfrm>
          <a:prstGeom prst="rect">
            <a:avLst/>
          </a:prstGeom>
          <a:solidFill>
            <a:srgbClr val="0F2637"/>
          </a:solidFill>
          <a:ln w="12700">
            <a:solidFill>
              <a:srgbClr val="01696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667512" y="1773936"/>
            <a:ext cx="5202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Capture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7512" y="2194560"/>
            <a:ext cx="5202936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photographs the board. Browser compresses to JPEG, uploads to a private bucket, creates a processing post. The worker picks it up asynchronously via a callback.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664208"/>
            <a:ext cx="5532120" cy="2084832"/>
          </a:xfrm>
          <a:prstGeom prst="rect">
            <a:avLst/>
          </a:prstGeom>
          <a:solidFill>
            <a:srgbClr val="0F2637"/>
          </a:solidFill>
          <a:ln w="12700">
            <a:solidFill>
              <a:srgbClr val="01696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6473952" y="1773936"/>
            <a:ext cx="5202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Private Feed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73952" y="2194560"/>
            <a:ext cx="5202936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admin confirmation: typed posts by category (Termin, Info, Ruckblick) — the structure Claude suggested and the admin confirmed before any member sees it.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858768"/>
            <a:ext cx="5532120" cy="2084832"/>
          </a:xfrm>
          <a:prstGeom prst="rect">
            <a:avLst/>
          </a:prstGeom>
          <a:solidFill>
            <a:srgbClr val="0F2637"/>
          </a:solidFill>
          <a:ln w="12700">
            <a:solidFill>
              <a:srgbClr val="01696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667512" y="3968496"/>
            <a:ext cx="5202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Calendar + ICS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7512" y="4389120"/>
            <a:ext cx="5202936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land on a shared calendar. Members subscribe via ICS link — closures and dates sync automatically to their own phone, no app install needed.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3858768"/>
            <a:ext cx="5532120" cy="2084832"/>
          </a:xfrm>
          <a:prstGeom prst="rect">
            <a:avLst/>
          </a:prstGeom>
          <a:solidFill>
            <a:srgbClr val="0F2637"/>
          </a:solidFill>
          <a:ln w="12700">
            <a:solidFill>
              <a:srgbClr val="01696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6473952" y="3968496"/>
            <a:ext cx="5202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Members + Onboarding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73952" y="4389120"/>
            <a:ext cx="5202936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Invite-only members, groups, and roles. A QR poster on the physical board lets parents request access. No open signup — invite-only is a privacy choice, not a limitation.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6035040"/>
            <a:ext cx="12192000" cy="530352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502920" y="6035040"/>
            <a:ext cx="11521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kita-connect.cloud  |  Invite-only — provisioned demo account available on request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4F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502920" y="457200"/>
            <a:ext cx="1371600" cy="256032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84124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— An Honest Framing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02920" y="1664208"/>
            <a:ext cx="2633472" cy="1847088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26334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~EUR 1.3k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2920" y="2523744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infra / year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889504"/>
            <a:ext cx="2633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+ Supabase EU + VPS + Resend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1664208"/>
            <a:ext cx="2633472" cy="1847088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3337560" y="1737360"/>
            <a:ext cx="26334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~EUR 60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337560" y="2523744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cost / year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2889504"/>
            <a:ext cx="2633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claude-haiku, once per capture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72200" y="1664208"/>
            <a:ext cx="2633472" cy="1847088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6172200" y="1737360"/>
            <a:ext cx="26334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orgs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172200" y="2523744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break-even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2889504"/>
            <a:ext cx="2633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EUR 15 per org per month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006840" y="1664208"/>
            <a:ext cx="2633472" cy="1847088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9006840" y="1737360"/>
            <a:ext cx="26334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+177%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006840" y="2523744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cash ROI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006840" y="2889504"/>
            <a:ext cx="2633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20 orgs, infra cost basis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712464"/>
            <a:ext cx="5394960" cy="1874520"/>
          </a:xfrm>
          <a:prstGeom prst="rect">
            <a:avLst/>
          </a:prstGeom>
          <a:solidFill>
            <a:srgbClr val="E0F0F1"/>
          </a:solidFill>
          <a:ln w="12700">
            <a:solidFill>
              <a:srgbClr val="01696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685800" y="380390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horizon (cash basis)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" y="4206240"/>
            <a:ext cx="5029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20 orgs x EUR 15/mo: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EUR 3,600   -   Infra EUR 1,300   =   Net EUR 2,300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(cash) = +177%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63640" y="3712464"/>
            <a:ext cx="5394960" cy="1874520"/>
          </a:xfrm>
          <a:prstGeom prst="rect">
            <a:avLst/>
          </a:prstGeom>
          <a:solidFill>
            <a:srgbClr val="F5E8E8"/>
          </a:solidFill>
          <a:ln w="12700">
            <a:solidFill>
              <a:srgbClr val="A135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6446520" y="380390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13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36-month horizon (full build cost)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46520" y="4206240"/>
            <a:ext cx="5029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35k build + 3yr ongoing vs EUR 11.7k revenue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ROI(36mo) = -80% at self-serve prices and scale.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lever is a channel — not technology.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84048" y="5760720"/>
            <a:ext cx="11356848" cy="749808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566928" y="5797296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EUR 25/org/mo through an association selling to 150 Kitas: revenue = EUR 45k/yr — the build repays inside year 1 of that channel.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502920" y="457200"/>
            <a:ext cx="1371600" cy="256032"/>
          </a:xfrm>
          <a:prstGeom prst="rect">
            <a:avLst/>
          </a:prstGeom>
          <a:solidFill>
            <a:srgbClr val="4F98A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MATRIX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84124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8-Risk Assessment Matrix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Likelihood (1 very unlikely to 5 very likely)   |   I = Impact (1 negligible to 5 severe)   |   Level = L x 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810512"/>
            <a:ext cx="384048" cy="347472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502920" y="1810512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23544" y="1810512"/>
            <a:ext cx="1207008" cy="347472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923544" y="1810512"/>
            <a:ext cx="12070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67128" y="1810512"/>
            <a:ext cx="2514600" cy="347472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2167128" y="181051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18304" y="1810512"/>
            <a:ext cx="274320" cy="347472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4718304" y="1810512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0" y="1810512"/>
            <a:ext cx="274320" cy="347472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5029200" y="1810512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40096" y="1810512"/>
            <a:ext cx="566928" cy="347472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5340096" y="1810512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0" y="1810512"/>
            <a:ext cx="5074920" cy="347472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5943600" y="1810512"/>
            <a:ext cx="5074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2194560"/>
            <a:ext cx="384048" cy="457200"/>
          </a:xfrm>
          <a:prstGeom prst="rect">
            <a:avLst/>
          </a:prstGeom>
          <a:solidFill>
            <a:srgbClr val="1C1B1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539496" y="219456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F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23544" y="2194560"/>
            <a:ext cx="1207008" cy="457200"/>
          </a:xfrm>
          <a:prstGeom prst="rect">
            <a:avLst/>
          </a:prstGeom>
          <a:solidFill>
            <a:srgbClr val="1C1B1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960120" y="2194560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167128" y="2194560"/>
            <a:ext cx="2514600" cy="457200"/>
          </a:xfrm>
          <a:prstGeom prst="rect">
            <a:avLst/>
          </a:prstGeom>
          <a:solidFill>
            <a:srgbClr val="1C1B1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2203704" y="2194560"/>
            <a:ext cx="2478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adoption / distribution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18304" y="2194560"/>
            <a:ext cx="274320" cy="457200"/>
          </a:xfrm>
          <a:prstGeom prst="rect">
            <a:avLst/>
          </a:prstGeom>
          <a:solidFill>
            <a:srgbClr val="1C1B1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4754880" y="219456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0" y="2194560"/>
            <a:ext cx="274320" cy="457200"/>
          </a:xfrm>
          <a:prstGeom prst="rect">
            <a:avLst/>
          </a:prstGeom>
          <a:solidFill>
            <a:srgbClr val="1C1B1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5065776" y="219456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340096" y="2194560"/>
            <a:ext cx="566928" cy="457200"/>
          </a:xfrm>
          <a:prstGeom prst="rect">
            <a:avLst/>
          </a:prstGeom>
          <a:solidFill>
            <a:srgbClr val="7A000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/>
          <p:nvPr/>
        </p:nvSpPr>
        <p:spPr>
          <a:xfrm>
            <a:off x="5376672" y="2194560"/>
            <a:ext cx="530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943600" y="2194560"/>
            <a:ext cx="5074920" cy="457200"/>
          </a:xfrm>
          <a:prstGeom prst="rect">
            <a:avLst/>
          </a:prstGeom>
          <a:solidFill>
            <a:srgbClr val="1C1B1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5" name="Text 33"/>
          <p:cNvSpPr/>
          <p:nvPr/>
        </p:nvSpPr>
        <p:spPr>
          <a:xfrm>
            <a:off x="5980176" y="2194560"/>
            <a:ext cx="5038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process change design + channel strategy (association/Traeger)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02920" y="2688336"/>
            <a:ext cx="384048" cy="457200"/>
          </a:xfrm>
          <a:prstGeom prst="rect">
            <a:avLst/>
          </a:prstGeom>
          <a:solidFill>
            <a:srgbClr val="22213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7" name="Text 35"/>
          <p:cNvSpPr/>
          <p:nvPr/>
        </p:nvSpPr>
        <p:spPr>
          <a:xfrm>
            <a:off x="539496" y="2688336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F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23544" y="2688336"/>
            <a:ext cx="1207008" cy="457200"/>
          </a:xfrm>
          <a:prstGeom prst="rect">
            <a:avLst/>
          </a:prstGeom>
          <a:solidFill>
            <a:srgbClr val="22213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9" name="Text 37"/>
          <p:cNvSpPr/>
          <p:nvPr/>
        </p:nvSpPr>
        <p:spPr>
          <a:xfrm>
            <a:off x="960120" y="2688336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167128" y="2688336"/>
            <a:ext cx="2514600" cy="457200"/>
          </a:xfrm>
          <a:prstGeom prst="rect">
            <a:avLst/>
          </a:prstGeom>
          <a:solidFill>
            <a:srgbClr val="22213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1" name="Text 39"/>
          <p:cNvSpPr/>
          <p:nvPr/>
        </p:nvSpPr>
        <p:spPr>
          <a:xfrm>
            <a:off x="2203704" y="2688336"/>
            <a:ext cx="2478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leak to external AI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18304" y="2688336"/>
            <a:ext cx="274320" cy="457200"/>
          </a:xfrm>
          <a:prstGeom prst="rect">
            <a:avLst/>
          </a:prstGeom>
          <a:solidFill>
            <a:srgbClr val="22213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3" name="Text 41"/>
          <p:cNvSpPr/>
          <p:nvPr/>
        </p:nvSpPr>
        <p:spPr>
          <a:xfrm>
            <a:off x="4754880" y="2688336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029200" y="2688336"/>
            <a:ext cx="274320" cy="457200"/>
          </a:xfrm>
          <a:prstGeom prst="rect">
            <a:avLst/>
          </a:prstGeom>
          <a:solidFill>
            <a:srgbClr val="22213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5" name="Text 43"/>
          <p:cNvSpPr/>
          <p:nvPr/>
        </p:nvSpPr>
        <p:spPr>
          <a:xfrm>
            <a:off x="5065776" y="2688336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340096" y="2688336"/>
            <a:ext cx="566928" cy="457200"/>
          </a:xfrm>
          <a:prstGeom prst="rect">
            <a:avLst/>
          </a:prstGeom>
          <a:solidFill>
            <a:srgbClr val="9B203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7" name="Text 45"/>
          <p:cNvSpPr/>
          <p:nvPr/>
        </p:nvSpPr>
        <p:spPr>
          <a:xfrm>
            <a:off x="5376672" y="2688336"/>
            <a:ext cx="530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943600" y="2688336"/>
            <a:ext cx="5074920" cy="457200"/>
          </a:xfrm>
          <a:prstGeom prst="rect">
            <a:avLst/>
          </a:prstGeom>
          <a:solidFill>
            <a:srgbClr val="22213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9" name="Text 47"/>
          <p:cNvSpPr/>
          <p:nvPr/>
        </p:nvSpPr>
        <p:spPr>
          <a:xfrm>
            <a:off x="5980176" y="2688336"/>
            <a:ext cx="5038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fail-closed redaction + DB column REVOKE + double-gated consent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02920" y="3182112"/>
            <a:ext cx="384048" cy="457200"/>
          </a:xfrm>
          <a:prstGeom prst="rect">
            <a:avLst/>
          </a:prstGeom>
          <a:solidFill>
            <a:srgbClr val="1C1B1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1" name="Text 49"/>
          <p:cNvSpPr/>
          <p:nvPr/>
        </p:nvSpPr>
        <p:spPr>
          <a:xfrm>
            <a:off x="539496" y="3182112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F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23544" y="3182112"/>
            <a:ext cx="1207008" cy="457200"/>
          </a:xfrm>
          <a:prstGeom prst="rect">
            <a:avLst/>
          </a:prstGeom>
          <a:solidFill>
            <a:srgbClr val="1C1B1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3" name="Text 51"/>
          <p:cNvSpPr/>
          <p:nvPr/>
        </p:nvSpPr>
        <p:spPr>
          <a:xfrm>
            <a:off x="960120" y="3182112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Technical/AI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167128" y="3182112"/>
            <a:ext cx="2514600" cy="457200"/>
          </a:xfrm>
          <a:prstGeom prst="rect">
            <a:avLst/>
          </a:prstGeom>
          <a:solidFill>
            <a:srgbClr val="1C1B1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5" name="Text 53"/>
          <p:cNvSpPr/>
          <p:nvPr/>
        </p:nvSpPr>
        <p:spPr>
          <a:xfrm>
            <a:off x="2203704" y="3182112"/>
            <a:ext cx="2478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hallucination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718304" y="3182112"/>
            <a:ext cx="274320" cy="457200"/>
          </a:xfrm>
          <a:prstGeom prst="rect">
            <a:avLst/>
          </a:prstGeom>
          <a:solidFill>
            <a:srgbClr val="1C1B1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7" name="Text 55"/>
          <p:cNvSpPr/>
          <p:nvPr/>
        </p:nvSpPr>
        <p:spPr>
          <a:xfrm>
            <a:off x="4754880" y="3182112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029200" y="3182112"/>
            <a:ext cx="274320" cy="457200"/>
          </a:xfrm>
          <a:prstGeom prst="rect">
            <a:avLst/>
          </a:prstGeom>
          <a:solidFill>
            <a:srgbClr val="1C1B1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9" name="Text 57"/>
          <p:cNvSpPr/>
          <p:nvPr/>
        </p:nvSpPr>
        <p:spPr>
          <a:xfrm>
            <a:off x="5065776" y="3182112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340096" y="3182112"/>
            <a:ext cx="566928" cy="457200"/>
          </a:xfrm>
          <a:prstGeom prst="rect">
            <a:avLst/>
          </a:prstGeom>
          <a:solidFill>
            <a:srgbClr val="8B4A0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1" name="Text 59"/>
          <p:cNvSpPr/>
          <p:nvPr/>
        </p:nvSpPr>
        <p:spPr>
          <a:xfrm>
            <a:off x="5376672" y="3182112"/>
            <a:ext cx="530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943600" y="3182112"/>
            <a:ext cx="5074920" cy="457200"/>
          </a:xfrm>
          <a:prstGeom prst="rect">
            <a:avLst/>
          </a:prstGeom>
          <a:solidFill>
            <a:srgbClr val="1C1B1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3" name="Text 61"/>
          <p:cNvSpPr/>
          <p:nvPr/>
        </p:nvSpPr>
        <p:spPr>
          <a:xfrm>
            <a:off x="5980176" y="3182112"/>
            <a:ext cx="5038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Schema-validate + manual path fallback + admin confirms every publish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502920" y="3675888"/>
            <a:ext cx="384048" cy="457200"/>
          </a:xfrm>
          <a:prstGeom prst="rect">
            <a:avLst/>
          </a:prstGeom>
          <a:solidFill>
            <a:srgbClr val="22213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5" name="Text 63"/>
          <p:cNvSpPr/>
          <p:nvPr/>
        </p:nvSpPr>
        <p:spPr>
          <a:xfrm>
            <a:off x="539496" y="3675888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F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923544" y="3675888"/>
            <a:ext cx="1207008" cy="457200"/>
          </a:xfrm>
          <a:prstGeom prst="rect">
            <a:avLst/>
          </a:prstGeom>
          <a:solidFill>
            <a:srgbClr val="22213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7" name="Text 65"/>
          <p:cNvSpPr/>
          <p:nvPr/>
        </p:nvSpPr>
        <p:spPr>
          <a:xfrm>
            <a:off x="960120" y="3675888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2167128" y="3675888"/>
            <a:ext cx="2514600" cy="457200"/>
          </a:xfrm>
          <a:prstGeom prst="rect">
            <a:avLst/>
          </a:prstGeom>
          <a:solidFill>
            <a:srgbClr val="22213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9" name="Text 67"/>
          <p:cNvSpPr/>
          <p:nvPr/>
        </p:nvSpPr>
        <p:spPr>
          <a:xfrm>
            <a:off x="2203704" y="3675888"/>
            <a:ext cx="2478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or infra failure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718304" y="3675888"/>
            <a:ext cx="274320" cy="457200"/>
          </a:xfrm>
          <a:prstGeom prst="rect">
            <a:avLst/>
          </a:prstGeom>
          <a:solidFill>
            <a:srgbClr val="22213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1" name="Text 69"/>
          <p:cNvSpPr/>
          <p:nvPr/>
        </p:nvSpPr>
        <p:spPr>
          <a:xfrm>
            <a:off x="4754880" y="3675888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5029200" y="3675888"/>
            <a:ext cx="274320" cy="457200"/>
          </a:xfrm>
          <a:prstGeom prst="rect">
            <a:avLst/>
          </a:prstGeom>
          <a:solidFill>
            <a:srgbClr val="22213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3" name="Text 71"/>
          <p:cNvSpPr/>
          <p:nvPr/>
        </p:nvSpPr>
        <p:spPr>
          <a:xfrm>
            <a:off x="5065776" y="3675888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5340096" y="3675888"/>
            <a:ext cx="566928" cy="457200"/>
          </a:xfrm>
          <a:prstGeom prst="rect">
            <a:avLst/>
          </a:prstGeom>
          <a:solidFill>
            <a:srgbClr val="5A400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5" name="Text 73"/>
          <p:cNvSpPr/>
          <p:nvPr/>
        </p:nvSpPr>
        <p:spPr>
          <a:xfrm>
            <a:off x="5376672" y="3675888"/>
            <a:ext cx="530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5943600" y="3675888"/>
            <a:ext cx="5074920" cy="457200"/>
          </a:xfrm>
          <a:prstGeom prst="rect">
            <a:avLst/>
          </a:prstGeom>
          <a:solidFill>
            <a:srgbClr val="22213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7" name="Text 75"/>
          <p:cNvSpPr/>
          <p:nvPr/>
        </p:nvSpPr>
        <p:spPr>
          <a:xfrm>
            <a:off x="5980176" y="3675888"/>
            <a:ext cx="5038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runs without worker + OCR quality controls + graceful manual fallback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502920" y="4169664"/>
            <a:ext cx="384048" cy="457200"/>
          </a:xfrm>
          <a:prstGeom prst="rect">
            <a:avLst/>
          </a:prstGeom>
          <a:solidFill>
            <a:srgbClr val="1C1B1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9" name="Text 77"/>
          <p:cNvSpPr/>
          <p:nvPr/>
        </p:nvSpPr>
        <p:spPr>
          <a:xfrm>
            <a:off x="539496" y="4169664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F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923544" y="4169664"/>
            <a:ext cx="1207008" cy="457200"/>
          </a:xfrm>
          <a:prstGeom prst="rect">
            <a:avLst/>
          </a:prstGeom>
          <a:solidFill>
            <a:srgbClr val="1C1B1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1" name="Text 79"/>
          <p:cNvSpPr/>
          <p:nvPr/>
        </p:nvSpPr>
        <p:spPr>
          <a:xfrm>
            <a:off x="960120" y="4169664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Technical/AI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2167128" y="4169664"/>
            <a:ext cx="2514600" cy="457200"/>
          </a:xfrm>
          <a:prstGeom prst="rect">
            <a:avLst/>
          </a:prstGeom>
          <a:solidFill>
            <a:srgbClr val="1C1B1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3" name="Text 81"/>
          <p:cNvSpPr/>
          <p:nvPr/>
        </p:nvSpPr>
        <p:spPr>
          <a:xfrm>
            <a:off x="2203704" y="4169664"/>
            <a:ext cx="2478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Over-redaction of notices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4718304" y="4169664"/>
            <a:ext cx="274320" cy="457200"/>
          </a:xfrm>
          <a:prstGeom prst="rect">
            <a:avLst/>
          </a:prstGeom>
          <a:solidFill>
            <a:srgbClr val="1C1B1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5" name="Text 83"/>
          <p:cNvSpPr/>
          <p:nvPr/>
        </p:nvSpPr>
        <p:spPr>
          <a:xfrm>
            <a:off x="4754880" y="4169664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5029200" y="4169664"/>
            <a:ext cx="274320" cy="457200"/>
          </a:xfrm>
          <a:prstGeom prst="rect">
            <a:avLst/>
          </a:prstGeom>
          <a:solidFill>
            <a:srgbClr val="1C1B1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7" name="Text 85"/>
          <p:cNvSpPr/>
          <p:nvPr/>
        </p:nvSpPr>
        <p:spPr>
          <a:xfrm>
            <a:off x="5065776" y="4169664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5340096" y="4169664"/>
            <a:ext cx="566928" cy="457200"/>
          </a:xfrm>
          <a:prstGeom prst="rect">
            <a:avLst/>
          </a:prstGeom>
          <a:solidFill>
            <a:srgbClr val="1A45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9" name="Text 87"/>
          <p:cNvSpPr/>
          <p:nvPr/>
        </p:nvSpPr>
        <p:spPr>
          <a:xfrm>
            <a:off x="5376672" y="4169664"/>
            <a:ext cx="530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5943600" y="4169664"/>
            <a:ext cx="5074920" cy="457200"/>
          </a:xfrm>
          <a:prstGeom prst="rect">
            <a:avLst/>
          </a:prstGeom>
          <a:solidFill>
            <a:srgbClr val="1C1B1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1" name="Text 89"/>
          <p:cNvSpPr/>
          <p:nvPr/>
        </p:nvSpPr>
        <p:spPr>
          <a:xfrm>
            <a:off x="5980176" y="4169664"/>
            <a:ext cx="5038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Per-entity thresholds + LOCATION excluded + admin can unmask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502920" y="4663440"/>
            <a:ext cx="384048" cy="457200"/>
          </a:xfrm>
          <a:prstGeom prst="rect">
            <a:avLst/>
          </a:prstGeom>
          <a:solidFill>
            <a:srgbClr val="22213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3" name="Text 91"/>
          <p:cNvSpPr/>
          <p:nvPr/>
        </p:nvSpPr>
        <p:spPr>
          <a:xfrm>
            <a:off x="539496" y="466344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F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923544" y="4663440"/>
            <a:ext cx="1207008" cy="457200"/>
          </a:xfrm>
          <a:prstGeom prst="rect">
            <a:avLst/>
          </a:prstGeom>
          <a:solidFill>
            <a:srgbClr val="22213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5" name="Text 93"/>
          <p:cNvSpPr/>
          <p:nvPr/>
        </p:nvSpPr>
        <p:spPr>
          <a:xfrm>
            <a:off x="960120" y="4663440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2167128" y="4663440"/>
            <a:ext cx="2514600" cy="457200"/>
          </a:xfrm>
          <a:prstGeom prst="rect">
            <a:avLst/>
          </a:prstGeom>
          <a:solidFill>
            <a:srgbClr val="22213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7" name="Text 95"/>
          <p:cNvSpPr/>
          <p:nvPr/>
        </p:nvSpPr>
        <p:spPr>
          <a:xfrm>
            <a:off x="2203704" y="4663440"/>
            <a:ext cx="2478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creep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4718304" y="4663440"/>
            <a:ext cx="274320" cy="457200"/>
          </a:xfrm>
          <a:prstGeom prst="rect">
            <a:avLst/>
          </a:prstGeom>
          <a:solidFill>
            <a:srgbClr val="22213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9" name="Text 97"/>
          <p:cNvSpPr/>
          <p:nvPr/>
        </p:nvSpPr>
        <p:spPr>
          <a:xfrm>
            <a:off x="4754880" y="466344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5029200" y="4663440"/>
            <a:ext cx="274320" cy="457200"/>
          </a:xfrm>
          <a:prstGeom prst="rect">
            <a:avLst/>
          </a:prstGeom>
          <a:solidFill>
            <a:srgbClr val="22213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1" name="Text 99"/>
          <p:cNvSpPr/>
          <p:nvPr/>
        </p:nvSpPr>
        <p:spPr>
          <a:xfrm>
            <a:off x="5065776" y="466344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5340096" y="4663440"/>
            <a:ext cx="566928" cy="457200"/>
          </a:xfrm>
          <a:prstGeom prst="rect">
            <a:avLst/>
          </a:prstGeom>
          <a:solidFill>
            <a:srgbClr val="1A45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3" name="Text 101"/>
          <p:cNvSpPr/>
          <p:nvPr/>
        </p:nvSpPr>
        <p:spPr>
          <a:xfrm>
            <a:off x="5376672" y="4663440"/>
            <a:ext cx="530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5943600" y="4663440"/>
            <a:ext cx="5074920" cy="457200"/>
          </a:xfrm>
          <a:prstGeom prst="rect">
            <a:avLst/>
          </a:prstGeom>
          <a:solidFill>
            <a:srgbClr val="22213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5" name="Text 103"/>
          <p:cNvSpPr/>
          <p:nvPr/>
        </p:nvSpPr>
        <p:spPr>
          <a:xfrm>
            <a:off x="5980176" y="4663440"/>
            <a:ext cx="5038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Invite-only + double-gated photo consent + no public surface + erasure flows</a:t>
            </a:r>
            <a:endParaRPr lang="en-US" sz="950" dirty="0"/>
          </a:p>
        </p:txBody>
      </p:sp>
      <p:sp>
        <p:nvSpPr>
          <p:cNvPr id="106" name="Shape 104"/>
          <p:cNvSpPr/>
          <p:nvPr/>
        </p:nvSpPr>
        <p:spPr>
          <a:xfrm>
            <a:off x="502920" y="5157216"/>
            <a:ext cx="384048" cy="457200"/>
          </a:xfrm>
          <a:prstGeom prst="rect">
            <a:avLst/>
          </a:prstGeom>
          <a:solidFill>
            <a:srgbClr val="1C1B1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7" name="Text 105"/>
          <p:cNvSpPr/>
          <p:nvPr/>
        </p:nvSpPr>
        <p:spPr>
          <a:xfrm>
            <a:off x="539496" y="5157216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F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923544" y="5157216"/>
            <a:ext cx="1207008" cy="457200"/>
          </a:xfrm>
          <a:prstGeom prst="rect">
            <a:avLst/>
          </a:prstGeom>
          <a:solidFill>
            <a:srgbClr val="1C1B1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9" name="Text 107"/>
          <p:cNvSpPr/>
          <p:nvPr/>
        </p:nvSpPr>
        <p:spPr>
          <a:xfrm>
            <a:off x="960120" y="5157216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2167128" y="5157216"/>
            <a:ext cx="2514600" cy="457200"/>
          </a:xfrm>
          <a:prstGeom prst="rect">
            <a:avLst/>
          </a:prstGeom>
          <a:solidFill>
            <a:srgbClr val="1C1B1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1" name="Text 109"/>
          <p:cNvSpPr/>
          <p:nvPr/>
        </p:nvSpPr>
        <p:spPr>
          <a:xfrm>
            <a:off x="2203704" y="5157216"/>
            <a:ext cx="2478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misclassification</a:t>
            </a:r>
            <a:endParaRPr lang="en-US" sz="1000" dirty="0"/>
          </a:p>
        </p:txBody>
      </p:sp>
      <p:sp>
        <p:nvSpPr>
          <p:cNvPr id="112" name="Shape 110"/>
          <p:cNvSpPr/>
          <p:nvPr/>
        </p:nvSpPr>
        <p:spPr>
          <a:xfrm>
            <a:off x="4718304" y="5157216"/>
            <a:ext cx="274320" cy="457200"/>
          </a:xfrm>
          <a:prstGeom prst="rect">
            <a:avLst/>
          </a:prstGeom>
          <a:solidFill>
            <a:srgbClr val="1C1B1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3" name="Text 111"/>
          <p:cNvSpPr/>
          <p:nvPr/>
        </p:nvSpPr>
        <p:spPr>
          <a:xfrm>
            <a:off x="4754880" y="5157216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4" name="Shape 112"/>
          <p:cNvSpPr/>
          <p:nvPr/>
        </p:nvSpPr>
        <p:spPr>
          <a:xfrm>
            <a:off x="5029200" y="5157216"/>
            <a:ext cx="274320" cy="457200"/>
          </a:xfrm>
          <a:prstGeom prst="rect">
            <a:avLst/>
          </a:prstGeom>
          <a:solidFill>
            <a:srgbClr val="1C1B1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5" name="Text 113"/>
          <p:cNvSpPr/>
          <p:nvPr/>
        </p:nvSpPr>
        <p:spPr>
          <a:xfrm>
            <a:off x="5065776" y="5157216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16" name="Shape 114"/>
          <p:cNvSpPr/>
          <p:nvPr/>
        </p:nvSpPr>
        <p:spPr>
          <a:xfrm>
            <a:off x="5340096" y="5157216"/>
            <a:ext cx="566928" cy="457200"/>
          </a:xfrm>
          <a:prstGeom prst="rect">
            <a:avLst/>
          </a:prstGeom>
          <a:solidFill>
            <a:srgbClr val="1A45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7" name="Text 115"/>
          <p:cNvSpPr/>
          <p:nvPr/>
        </p:nvSpPr>
        <p:spPr>
          <a:xfrm>
            <a:off x="5376672" y="5157216"/>
            <a:ext cx="530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18" name="Shape 116"/>
          <p:cNvSpPr/>
          <p:nvPr/>
        </p:nvSpPr>
        <p:spPr>
          <a:xfrm>
            <a:off x="5943600" y="5157216"/>
            <a:ext cx="5074920" cy="457200"/>
          </a:xfrm>
          <a:prstGeom prst="rect">
            <a:avLst/>
          </a:prstGeom>
          <a:solidFill>
            <a:srgbClr val="1C1B1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9" name="Text 117"/>
          <p:cNvSpPr/>
          <p:nvPr/>
        </p:nvSpPr>
        <p:spPr>
          <a:xfrm>
            <a:off x="5980176" y="5157216"/>
            <a:ext cx="5038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risk walked step-by-step + human-in-loop + transparency met</a:t>
            </a:r>
            <a:endParaRPr lang="en-US" sz="950" dirty="0"/>
          </a:p>
        </p:txBody>
      </p:sp>
      <p:sp>
        <p:nvSpPr>
          <p:cNvPr id="120" name="Shape 118"/>
          <p:cNvSpPr/>
          <p:nvPr/>
        </p:nvSpPr>
        <p:spPr>
          <a:xfrm>
            <a:off x="502920" y="5650992"/>
            <a:ext cx="384048" cy="457200"/>
          </a:xfrm>
          <a:prstGeom prst="rect">
            <a:avLst/>
          </a:prstGeom>
          <a:solidFill>
            <a:srgbClr val="22213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1" name="Text 119"/>
          <p:cNvSpPr/>
          <p:nvPr/>
        </p:nvSpPr>
        <p:spPr>
          <a:xfrm>
            <a:off x="539496" y="5650992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F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</a:t>
            </a:r>
            <a:endParaRPr lang="en-US" sz="1000" dirty="0"/>
          </a:p>
        </p:txBody>
      </p:sp>
      <p:sp>
        <p:nvSpPr>
          <p:cNvPr id="122" name="Shape 120"/>
          <p:cNvSpPr/>
          <p:nvPr/>
        </p:nvSpPr>
        <p:spPr>
          <a:xfrm>
            <a:off x="923544" y="5650992"/>
            <a:ext cx="1207008" cy="457200"/>
          </a:xfrm>
          <a:prstGeom prst="rect">
            <a:avLst/>
          </a:prstGeom>
          <a:solidFill>
            <a:srgbClr val="22213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3" name="Text 121"/>
          <p:cNvSpPr/>
          <p:nvPr/>
        </p:nvSpPr>
        <p:spPr>
          <a:xfrm>
            <a:off x="960120" y="5650992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</a:t>
            </a:r>
            <a:endParaRPr lang="en-US" sz="1000" dirty="0"/>
          </a:p>
        </p:txBody>
      </p:sp>
      <p:sp>
        <p:nvSpPr>
          <p:cNvPr id="124" name="Shape 122"/>
          <p:cNvSpPr/>
          <p:nvPr/>
        </p:nvSpPr>
        <p:spPr>
          <a:xfrm>
            <a:off x="2167128" y="5650992"/>
            <a:ext cx="2514600" cy="457200"/>
          </a:xfrm>
          <a:prstGeom prst="rect">
            <a:avLst/>
          </a:prstGeom>
          <a:solidFill>
            <a:srgbClr val="22213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5" name="Text 123"/>
          <p:cNvSpPr/>
          <p:nvPr/>
        </p:nvSpPr>
        <p:spPr>
          <a:xfrm>
            <a:off x="2203704" y="5650992"/>
            <a:ext cx="2478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data residency (US)</a:t>
            </a:r>
            <a:endParaRPr lang="en-US" sz="1000" dirty="0"/>
          </a:p>
        </p:txBody>
      </p:sp>
      <p:sp>
        <p:nvSpPr>
          <p:cNvPr id="126" name="Shape 124"/>
          <p:cNvSpPr/>
          <p:nvPr/>
        </p:nvSpPr>
        <p:spPr>
          <a:xfrm>
            <a:off x="4718304" y="5650992"/>
            <a:ext cx="274320" cy="457200"/>
          </a:xfrm>
          <a:prstGeom prst="rect">
            <a:avLst/>
          </a:prstGeom>
          <a:solidFill>
            <a:srgbClr val="22213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7" name="Text 125"/>
          <p:cNvSpPr/>
          <p:nvPr/>
        </p:nvSpPr>
        <p:spPr>
          <a:xfrm>
            <a:off x="4754880" y="5650992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8" name="Shape 126"/>
          <p:cNvSpPr/>
          <p:nvPr/>
        </p:nvSpPr>
        <p:spPr>
          <a:xfrm>
            <a:off x="5029200" y="5650992"/>
            <a:ext cx="274320" cy="457200"/>
          </a:xfrm>
          <a:prstGeom prst="rect">
            <a:avLst/>
          </a:prstGeom>
          <a:solidFill>
            <a:srgbClr val="22213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9" name="Text 127"/>
          <p:cNvSpPr/>
          <p:nvPr/>
        </p:nvSpPr>
        <p:spPr>
          <a:xfrm>
            <a:off x="5065776" y="5650992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30" name="Shape 128"/>
          <p:cNvSpPr/>
          <p:nvPr/>
        </p:nvSpPr>
        <p:spPr>
          <a:xfrm>
            <a:off x="5340096" y="5650992"/>
            <a:ext cx="566928" cy="457200"/>
          </a:xfrm>
          <a:prstGeom prst="rect">
            <a:avLst/>
          </a:prstGeom>
          <a:solidFill>
            <a:srgbClr val="0D3A3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1" name="Text 129"/>
          <p:cNvSpPr/>
          <p:nvPr/>
        </p:nvSpPr>
        <p:spPr>
          <a:xfrm>
            <a:off x="5376672" y="5650992"/>
            <a:ext cx="530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32" name="Shape 130"/>
          <p:cNvSpPr/>
          <p:nvPr/>
        </p:nvSpPr>
        <p:spPr>
          <a:xfrm>
            <a:off x="5943600" y="5650992"/>
            <a:ext cx="5074920" cy="457200"/>
          </a:xfrm>
          <a:prstGeom prst="rect">
            <a:avLst/>
          </a:prstGeom>
          <a:solidFill>
            <a:srgbClr val="22213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3" name="Text 131"/>
          <p:cNvSpPr/>
          <p:nvPr/>
        </p:nvSpPr>
        <p:spPr>
          <a:xfrm>
            <a:off x="5980176" y="5650992"/>
            <a:ext cx="5038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redacted text crosses + EU LLM (Mistral) is a one-module swap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4F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502920" y="457200"/>
            <a:ext cx="1371600" cy="256032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84124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+ GDPR Summary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02920" y="1664208"/>
            <a:ext cx="5394960" cy="4224528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2240280"/>
            <a:ext cx="2286000" cy="402336"/>
          </a:xfrm>
          <a:prstGeom prst="roundRect">
            <a:avLst>
              <a:gd name="adj" fmla="val 15909"/>
            </a:avLst>
          </a:prstGeom>
          <a:solidFill>
            <a:srgbClr val="0169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685800" y="2240280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RISK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2743200"/>
            <a:ext cx="146304" cy="310896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914400" y="27432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prohibited (Art. 5) — no social scoring, biometrics, manipulation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3163824"/>
            <a:ext cx="146304" cy="310896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914400" y="3163824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High-risk — no safety component, no Annex III area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3584448"/>
            <a:ext cx="146304" cy="310896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914400" y="3584448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no decision about a person — classifies a notice, not a learner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4005072"/>
            <a:ext cx="146304" cy="310896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914400" y="400507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(Art. 50) — AI suggestions labelled, admin confirms before publish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" y="4425696"/>
            <a:ext cx="146304" cy="310896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914400" y="4425696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 — 100% of posts need admin confirmation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" y="4846320"/>
            <a:ext cx="146304" cy="310896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914400" y="48463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/ robustness — schema-validated, fail-closed, manual path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1664208"/>
            <a:ext cx="5394960" cy="4224528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6446520" y="178308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46520" y="2240280"/>
            <a:ext cx="2743200" cy="402336"/>
          </a:xfrm>
          <a:prstGeom prst="roundRect">
            <a:avLst>
              <a:gd name="adj" fmla="val 15909"/>
            </a:avLst>
          </a:prstGeom>
          <a:solidFill>
            <a:srgbClr val="437A2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6446520" y="224028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RISK: LOW-MED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46520" y="2743200"/>
            <a:ext cx="146304" cy="310896"/>
          </a:xfrm>
          <a:prstGeom prst="rect">
            <a:avLst/>
          </a:prstGeom>
          <a:solidFill>
            <a:srgbClr val="437A2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6675120" y="27432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map documented — photo to OCR to redact to extract to DB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46520" y="3163824"/>
            <a:ext cx="146304" cy="310896"/>
          </a:xfrm>
          <a:prstGeom prst="rect">
            <a:avLst/>
          </a:prstGeom>
          <a:solidFill>
            <a:srgbClr val="437A2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6675120" y="3163824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DPIA completed on highest-risk activity (board photo naming children)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46520" y="3584448"/>
            <a:ext cx="146304" cy="310896"/>
          </a:xfrm>
          <a:prstGeom prst="rect">
            <a:avLst/>
          </a:prstGeom>
          <a:solidFill>
            <a:srgbClr val="437A2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6675120" y="3584448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photos stay in EU infrastructure (Supabase EU)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46520" y="4005072"/>
            <a:ext cx="146304" cy="310896"/>
          </a:xfrm>
          <a:prstGeom prst="rect">
            <a:avLst/>
          </a:prstGeom>
          <a:solidFill>
            <a:srgbClr val="437A2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6675120" y="400507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locally-redacted text reaches Claude — no PII, no raw image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46520" y="4425696"/>
            <a:ext cx="146304" cy="310896"/>
          </a:xfrm>
          <a:prstGeom prst="rect">
            <a:avLst/>
          </a:prstGeom>
          <a:solidFill>
            <a:srgbClr val="437A2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6" name="Text 34"/>
          <p:cNvSpPr/>
          <p:nvPr/>
        </p:nvSpPr>
        <p:spPr>
          <a:xfrm>
            <a:off x="6675120" y="4425696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receives redacted text only — no personal data crosses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46520" y="4846320"/>
            <a:ext cx="146304" cy="310896"/>
          </a:xfrm>
          <a:prstGeom prst="rect">
            <a:avLst/>
          </a:prstGeom>
          <a:solidFill>
            <a:srgbClr val="437A2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8" name="Text 36"/>
          <p:cNvSpPr/>
          <p:nvPr/>
        </p:nvSpPr>
        <p:spPr>
          <a:xfrm>
            <a:off x="6675120" y="48463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subject rights: access, erasure, rectification, portability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2920" y="608076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items before scale: model card  |  redaction recall metric  |  retention schedule  |  AI-incident runbook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4F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502920" y="457200"/>
            <a:ext cx="1371600" cy="256032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84124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and Go-to-Market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02920" y="1664208"/>
            <a:ext cx="2157984" cy="384048"/>
          </a:xfrm>
          <a:prstGeom prst="rect">
            <a:avLst/>
          </a:prstGeom>
          <a:solidFill>
            <a:srgbClr val="437A2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2157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066544"/>
            <a:ext cx="2157984" cy="1298448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594360" y="2121408"/>
            <a:ext cx="19751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542032"/>
            <a:ext cx="19751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stack, pipeline, GDPR flows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24912" y="1664208"/>
            <a:ext cx="2157984" cy="384048"/>
          </a:xfrm>
          <a:prstGeom prst="rect">
            <a:avLst/>
          </a:prstGeom>
          <a:solidFill>
            <a:srgbClr val="437A2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2724912" y="1664208"/>
            <a:ext cx="2157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24912" y="2066544"/>
            <a:ext cx="2157984" cy="1298448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2816352" y="2121408"/>
            <a:ext cx="19751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16352" y="2542032"/>
            <a:ext cx="19751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n8n workflows, simulation harness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46904" y="1664208"/>
            <a:ext cx="2157984" cy="384048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4946904" y="1664208"/>
            <a:ext cx="2157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now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46904" y="2066544"/>
            <a:ext cx="2157984" cy="1298448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5038344" y="2121408"/>
            <a:ext cx="19751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38344" y="2542032"/>
            <a:ext cx="19751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Kita, real board, tuning redaction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68896" y="1664208"/>
            <a:ext cx="2157984" cy="384048"/>
          </a:xfrm>
          <a:prstGeom prst="rect">
            <a:avLst/>
          </a:prstGeom>
          <a:solidFill>
            <a:srgbClr val="C9890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7168896" y="1664208"/>
            <a:ext cx="2157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168896" y="2066544"/>
            <a:ext cx="2157984" cy="1298448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7260336" y="2121408"/>
            <a:ext cx="19751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260336" y="2542032"/>
            <a:ext cx="19751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worker, Android Play Store build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390888" y="1664208"/>
            <a:ext cx="2157984" cy="384048"/>
          </a:xfrm>
          <a:prstGeom prst="rect">
            <a:avLst/>
          </a:prstGeom>
          <a:solidFill>
            <a:srgbClr val="5A5A5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9390888" y="1664208"/>
            <a:ext cx="2157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390888" y="2066544"/>
            <a:ext cx="2157984" cy="1298448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9482328" y="2121408"/>
            <a:ext cx="19751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Scale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482328" y="2542032"/>
            <a:ext cx="19751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Association/Traeger — one sale = many orgs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" y="3584448"/>
            <a:ext cx="5394960" cy="2926080"/>
          </a:xfrm>
          <a:prstGeom prst="rect">
            <a:avLst/>
          </a:prstGeom>
          <a:solidFill>
            <a:srgbClr val="E8E6DF"/>
          </a:solidFill>
          <a:ln w="12700">
            <a:solidFill>
              <a:srgbClr val="01696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/>
          <p:nvPr/>
        </p:nvSpPr>
        <p:spPr>
          <a:xfrm>
            <a:off x="685800" y="367588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5800" y="409651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Channel-led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5800" y="4407408"/>
            <a:ext cx="50292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Kita-associations or Traeger. One sale = dozens of orgs. Pricing EUR 15-25/org/mo bundled. The DPO-ready privacy story makes this sale.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5800" y="544982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Secondary: Direct self-serve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85800" y="57607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15/org/mo. Early revenue and reference story; feeds the channel pitch.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63640" y="3584448"/>
            <a:ext cx="5394960" cy="2926080"/>
          </a:xfrm>
          <a:prstGeom prst="rect">
            <a:avLst/>
          </a:prstGeom>
          <a:solidFill>
            <a:srgbClr val="E8E6DF"/>
          </a:solidFill>
          <a:ln w="12700">
            <a:solidFill>
              <a:srgbClr val="01696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Text 37"/>
          <p:cNvSpPr/>
          <p:nvPr/>
        </p:nvSpPr>
        <p:spPr>
          <a:xfrm>
            <a:off x="6446520" y="367588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Commercialisation Model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446520" y="409651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SaaS, per-org subscription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46520" y="44622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differentiators: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46520" y="4773168"/>
            <a:ext cx="128016" cy="256032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3" name="Text 41"/>
          <p:cNvSpPr/>
          <p:nvPr/>
        </p:nvSpPr>
        <p:spPr>
          <a:xfrm>
            <a:off x="6656832" y="477316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process change (just photograph the board)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46520" y="5120640"/>
            <a:ext cx="128016" cy="256032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5" name="Text 43"/>
          <p:cNvSpPr/>
          <p:nvPr/>
        </p:nvSpPr>
        <p:spPr>
          <a:xfrm>
            <a:off x="6656832" y="512064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construction (the DPO says yes)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446520" y="5468112"/>
            <a:ext cx="128016" cy="256032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7" name="Text 45"/>
          <p:cNvSpPr/>
          <p:nvPr/>
        </p:nvSpPr>
        <p:spPr>
          <a:xfrm>
            <a:off x="6656832" y="546811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compliant reference build — not a mockup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446520" y="5833872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portals and newsletter tools: those require a second system admins won't maintain. Aushang demands only a photograph.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Aushang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02920" y="1901952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F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advises. PII is masked first. A human decides.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2487168"/>
            <a:ext cx="10972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on a live, GDPR-by-construction build.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2999232"/>
            <a:ext cx="11430000" cy="36576"/>
          </a:xfrm>
          <a:prstGeom prst="rect">
            <a:avLst/>
          </a:prstGeom>
          <a:solidFill>
            <a:srgbClr val="0169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502920" y="3154680"/>
            <a:ext cx="2011680" cy="402336"/>
          </a:xfrm>
          <a:prstGeom prst="roundRect">
            <a:avLst>
              <a:gd name="adj" fmla="val 15909"/>
            </a:avLst>
          </a:prstGeom>
          <a:solidFill>
            <a:srgbClr val="437A2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502920" y="3154680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70048" y="3154680"/>
            <a:ext cx="9144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and validate, then pursue the channel.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371246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and 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4078224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 child's name reach the AI?  </a:t>
            </a:r>
            <a:r>
              <a:rPr lang="en-US" sz="11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masked locally before the external call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4535424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Limited risk, not High?  </a:t>
            </a:r>
            <a:r>
              <a:rPr lang="en-US" sz="11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Annex III area — makes no decision about a person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992624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the AI mis-reads?  </a:t>
            </a:r>
            <a:r>
              <a:rPr lang="en-US" sz="11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Schema-validate routes to manual; admin confirms every publish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63640" y="4078224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US-hosted LLM — GDPR issue?  </a:t>
            </a:r>
            <a:r>
              <a:rPr lang="en-US" sz="11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redacted text crosses; EU LLM swap is one module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63640" y="4535424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small Kitas actually adopt it?  </a:t>
            </a:r>
            <a:r>
              <a:rPr lang="en-US" sz="11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process change — only new habit is photographing the board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63640" y="4992624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really live?  </a:t>
            </a:r>
            <a:r>
              <a:rPr lang="en-US" sz="11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kita-connect.cloud, first Kita testing now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6291072"/>
            <a:ext cx="12192000" cy="566928"/>
          </a:xfrm>
          <a:prstGeom prst="rect">
            <a:avLst/>
          </a:prstGeom>
          <a:solidFill>
            <a:srgbClr val="0F263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502920" y="6327648"/>
            <a:ext cx="11338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kita-connect.cloud</a:t>
            </a: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r>
              <a:rPr lang="en-US" sz="11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github/DIGITNEWS</a:t>
            </a: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r>
              <a:rPr lang="en-US" sz="11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github/final-project-eugen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1839</Words>
  <Application>Microsoft Office PowerPoint</Application>
  <PresentationFormat>Breitbild</PresentationFormat>
  <Paragraphs>295</Paragraphs>
  <Slides>12</Slides>
  <Notes>12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Eugen Müller</cp:lastModifiedBy>
  <cp:revision>1</cp:revision>
  <dcterms:created xsi:type="dcterms:W3CDTF">2026-06-16T09:24:10Z</dcterms:created>
  <dcterms:modified xsi:type="dcterms:W3CDTF">2026-06-16T09:47:35Z</dcterms:modified>
</cp:coreProperties>
</file>