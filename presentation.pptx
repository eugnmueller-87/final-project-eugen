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Aushang digitizes the paper notice board without changing the process. An AI reads the photographed board, masks personal data locally, suggests a structured post in German, English or Russian; an admin confirms before anything publishes, and a super-admin can remove any post. Live at kita-connect.cloud, a first Kita is testing it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Small orgs run on a paper board. Three traps: information is trapped — miss the board, miss the closure; off-the-shelf apps mean a second system the admin must retype into, so they stay on paper; the data is sensitive — children, parents, phones. The orgs least able to adopt software are the ones whose members most need reachable information. Aushang changes none of this process — it enhances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carries the project. Two principles, enforced by architecture not policy. One: privacy by construction — PII is detected and masked locally, fail-closed, before any external AI call; raw photos never leave our infra; no un-redacted PII ever reaches the AI. Two: the AI advises, a human decides — it only suggests, output is schema-validated, failures route to manual, an admin confirms before anything is visible, and routing reads only the confirmed value. Together these keep Aushang out of EU AI Act High-risk.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it works mechanically, with arrows. Photograph or upload, OCR with Tesseract, local redaction with Presidio, Claude suggests on redacted text only, strict schema validation, admin confirms, then fan-out to feed, calendar, ICS, email and push. The only text that crosses to the AI is redacted; the only path to a member's screen is an admin publish. ICS is the standard calendar feed — members subscribe once and dates sync to their own phone, no app needed.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building the product, the entire pattern was validated in no-code: four importable n8n workflows running on mock data, plus a 52-assertion simulation harness, all green. Each workflow proves one guarantee. A Code node owns every decision; Claude only advises. This is the method, not a re-statement of the boundary.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Privacy is not a promise — it is six concrete mechanisms across the stack: local fail-closed redaction, database column REVOKE so even an admin's browser can't read raw PII, double-gated photo consent via short-TTL signed URLs, reflection-photo deletion at publish, a build-blocking secret scan in CI, and an adversarial four-layer security review. No raw image and no un-redacted PII is ever sent to the AI.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live system, not a mockup. Four real screens from production with a German UI: capture — photograph the board or upload; the private feed of typed posts; the shared calendar with an ICS subscription; and member management with groups and a QR onboarding poster. Live at kita-connect.cloud, invite-only by design, with a first Kita testing it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Honest ROI. Cash infra is about 1,300 euro a year; the LLM is about 60 euro a year — called once per capture on cheap, redacted text. The first Kita, my own child's, runs the pilot at cost. Each additional Kita pays 15 euro a month, just to cover infrastructure: break-even on cash infra is about 15 orgs. At 20 orgs the 12-month cash ROI is plus 177 percent. On a 36-month all-in basis including the 35k build it is minus 80 percent — so the lever is a channel, not technology. App-store presence adds a one-time six-euro purchase on Apple and Google as incremental revenue and a credibility signal.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risks, scored as likelihood times impact on a five-by-five grid. The two highest are R4, adoption and distribution at 16, mitigated by no process change plus a channel strategy; and R1, a PII leak at 15, the project's core thesis, engineered against with local fail-closed redaction, DB column REVOKE and double-gated consent. The rest cluster lower and all degrade to a safe manual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EU AI Act: Limited risk. It makes no decision about a person — it classifies a notice, not a learner — so there is no Annex III area; transparency and human oversight are met. GDPR: residual risk low to medium. The key property is that only locally-redacted text reaches the AI — no PII, no raw image; raw photos stay in EU infra; a DPIA is done; data-subject rights are supported. Open items before scale: model card, redaction-recall metric, retention schedule, AI-incident runbook.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Roadmap: build and POC are done; the pilot is live now in one real Kita — my own child's; hardening and the Android build are in progress; channel scale is planned. Go-to-market is bottom-up first: the pilot proves it, every additional Kita pays 15 euro a month just to cover infrastructure, break-even around 15 orgs. Then scale through a channel — associations or Träger — where one sale is dozens of orgs and the build repays. Differentiators: no process change, privacy by construction, a live compliant reference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line: AI advises, PII is masked first, a human decides — proven on a live, GDPR-by-construction build. Verdict: ship and validate, then pursue the channel. Q&amp;A prepared: no child's name reaches the AI; Limited risk because it makes no decision about a person; mis-reads route to manual; only redacted text crosses for residency; no process change drives adoption; and yes, it is genuinely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962025"/>
            <a:ext cx="400050" cy="400050"/>
          </a:xfrm>
          <a:prstGeom prst="roundRect">
            <a:avLst>
              <a:gd name="adj" fmla="val 14286"/>
            </a:avLst>
          </a:prstGeom>
          <a:solidFill>
            <a:srgbClr val="161413"/>
          </a:solidFill>
          <a:ln/>
        </p:spPr>
      </p:sp>
      <p:sp>
        <p:nvSpPr>
          <p:cNvPr id="3" name="Shape 1"/>
          <p:cNvSpPr/>
          <p:nvPr/>
        </p:nvSpPr>
        <p:spPr>
          <a:xfrm>
            <a:off x="1266825" y="1085850"/>
            <a:ext cx="152400" cy="152400"/>
          </a:xfrm>
          <a:prstGeom prst="ellipse">
            <a:avLst/>
          </a:prstGeom>
          <a:solidFill>
            <a:srgbClr val="B07219"/>
          </a:solidFill>
          <a:ln/>
        </p:spPr>
      </p:sp>
      <p:sp>
        <p:nvSpPr>
          <p:cNvPr id="4" name="Text 2"/>
          <p:cNvSpPr/>
          <p:nvPr/>
        </p:nvSpPr>
        <p:spPr>
          <a:xfrm>
            <a:off x="1695450" y="914400"/>
            <a:ext cx="1174353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3000" spc="-30" kern="0" dirty="0">
                <a:solidFill>
                  <a:srgbClr val="16141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Aushang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143000" y="2844800"/>
            <a:ext cx="15716250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spc="273" kern="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DIGITIZING THE PAPER NOTICE BOARD · WITHOUT CHANGING THE PROCESS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143000" y="3556000"/>
            <a:ext cx="13735050" cy="2019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7800" spc="-195" kern="0" dirty="0">
                <a:solidFill>
                  <a:srgbClr val="16141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An AI reads the board. Personal data is masked first. A human decides.</a:t>
            </a:r>
            <a:endParaRPr lang="en-US" sz="7800" dirty="0"/>
          </a:p>
        </p:txBody>
      </p:sp>
      <p:sp>
        <p:nvSpPr>
          <p:cNvPr id="7" name="Text 5"/>
          <p:cNvSpPr/>
          <p:nvPr/>
        </p:nvSpPr>
        <p:spPr>
          <a:xfrm>
            <a:off x="1143000" y="5918200"/>
            <a:ext cx="12557760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It reads the photographed board, masks every name, parent and phone number </a:t>
            </a:r>
            <a:pPr algn="l"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8F5C12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locally </a:t>
            </a:r>
            <a:pPr algn="l" indent="0" marL="0">
              <a:lnSpc>
                <a:spcPct val="150000"/>
              </a:lnSpc>
              <a:buNone/>
            </a:pPr>
            <a:r>
              <a:rPr lang="en-US" sz="2400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, and suggests a structured post — in German, English or Russian. An admin confirms before anything publishes, and a super-admin can remove any post at any time.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143000" y="8724900"/>
            <a:ext cx="16002000" cy="12700"/>
          </a:xfrm>
          <a:prstGeom prst="rect">
            <a:avLst/>
          </a:prstGeom>
          <a:solidFill>
            <a:srgbClr val="C9BFAE"/>
          </a:solidFill>
          <a:ln/>
        </p:spPr>
      </p:sp>
      <p:sp>
        <p:nvSpPr>
          <p:cNvPr id="9" name="Text 7"/>
          <p:cNvSpPr/>
          <p:nvPr/>
        </p:nvSpPr>
        <p:spPr>
          <a:xfrm>
            <a:off x="1143000" y="9156700"/>
            <a:ext cx="8942765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Eugen Müller · AI Consulting Bootcamp — Ironhack Berlin · June 2026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0885884" y="9023350"/>
            <a:ext cx="3374827" cy="463550"/>
          </a:xfrm>
          <a:prstGeom prst="roundRect">
            <a:avLst>
              <a:gd name="adj" fmla="val 50000"/>
            </a:avLst>
          </a:prstGeom>
          <a:solidFill>
            <a:srgbClr val="DCE8DF"/>
          </a:solidFill>
          <a:ln/>
        </p:spPr>
      </p:sp>
      <p:sp>
        <p:nvSpPr>
          <p:cNvPr id="11" name="Shape 9"/>
          <p:cNvSpPr/>
          <p:nvPr/>
        </p:nvSpPr>
        <p:spPr>
          <a:xfrm>
            <a:off x="11057334" y="9202738"/>
            <a:ext cx="104775" cy="104775"/>
          </a:xfrm>
          <a:prstGeom prst="ellipse">
            <a:avLst/>
          </a:prstGeom>
          <a:solidFill>
            <a:srgbClr val="3D7A5A"/>
          </a:solidFill>
          <a:ln/>
        </p:spPr>
      </p:sp>
      <p:sp>
        <p:nvSpPr>
          <p:cNvPr id="12" name="Text 10"/>
          <p:cNvSpPr/>
          <p:nvPr/>
        </p:nvSpPr>
        <p:spPr>
          <a:xfrm>
            <a:off x="11266884" y="9109075"/>
            <a:ext cx="2907048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D7A5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Live · in real-world testing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70261" y="9090025"/>
            <a:ext cx="2942213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161413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kita-connect.cloud</a:t>
            </a:r>
            <a:endParaRPr lang="en-US" sz="1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2126853"/>
            <a:ext cx="16002000" cy="12700"/>
          </a:xfrm>
          <a:prstGeom prst="rect">
            <a:avLst/>
          </a:prstGeom>
          <a:solidFill>
            <a:srgbClr val="C9BFA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800100"/>
            <a:ext cx="17602200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" y="1225550"/>
            <a:ext cx="17602200" cy="6917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950" spc="-99" kern="0" dirty="0">
                <a:solidFill>
                  <a:srgbClr val="16141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Three traps of the paper board</a:t>
            </a:r>
            <a:endParaRPr lang="en-US" sz="4950" dirty="0"/>
          </a:p>
        </p:txBody>
      </p:sp>
      <p:sp>
        <p:nvSpPr>
          <p:cNvPr id="5" name="Text 3"/>
          <p:cNvSpPr/>
          <p:nvPr/>
        </p:nvSpPr>
        <p:spPr>
          <a:xfrm>
            <a:off x="1143000" y="2577703"/>
            <a:ext cx="535749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500" dirty="0">
                <a:solidFill>
                  <a:srgbClr val="B0721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143000" y="3339703"/>
            <a:ext cx="535749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Information is trapped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143000" y="3911203"/>
            <a:ext cx="5016564" cy="15732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950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Miss the board, miss the closure, the Thursday trip, the lice warning. No feed, no calendar, no digest — the information dies in a hallway.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6356350" y="2577703"/>
            <a:ext cx="9525" cy="5350272"/>
          </a:xfrm>
          <a:prstGeom prst="rect">
            <a:avLst/>
          </a:prstGeom>
          <a:solidFill>
            <a:srgbClr val="E5DDD0"/>
          </a:solidFill>
          <a:ln/>
        </p:spPr>
      </p:sp>
      <p:sp>
        <p:nvSpPr>
          <p:cNvPr id="9" name="Text 7"/>
          <p:cNvSpPr/>
          <p:nvPr/>
        </p:nvSpPr>
        <p:spPr>
          <a:xfrm>
            <a:off x="6708775" y="2577703"/>
            <a:ext cx="535749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500" dirty="0">
                <a:solidFill>
                  <a:srgbClr val="B0721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708775" y="3339703"/>
            <a:ext cx="535749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Every app is a second system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6708775" y="3911203"/>
            <a:ext cx="5016564" cy="15732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950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off-the-shelf answer makes staff retype every notice into a new tool. One overworked admin won't maintain it — so they stay on paper.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11922126" y="2577703"/>
            <a:ext cx="9525" cy="5350272"/>
          </a:xfrm>
          <a:prstGeom prst="rect">
            <a:avLst/>
          </a:prstGeom>
          <a:solidFill>
            <a:srgbClr val="E5DDD0"/>
          </a:solidFill>
          <a:ln/>
        </p:spPr>
      </p:sp>
      <p:sp>
        <p:nvSpPr>
          <p:cNvPr id="13" name="Text 11"/>
          <p:cNvSpPr/>
          <p:nvPr/>
        </p:nvSpPr>
        <p:spPr>
          <a:xfrm>
            <a:off x="12274551" y="2577703"/>
            <a:ext cx="5357495" cy="609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500" dirty="0">
                <a:solidFill>
                  <a:srgbClr val="B07219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274551" y="3339703"/>
            <a:ext cx="5357495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data is sensitive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2274551" y="3911203"/>
            <a:ext cx="5016564" cy="15732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950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Notices name children, parents, phone numbers. Pushing a board photo into a generic cloud tool is a privacy problem these orgs are rightly nervous about.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1143000" y="8308975"/>
            <a:ext cx="16002000" cy="1292225"/>
          </a:xfrm>
          <a:prstGeom prst="roundRect">
            <a:avLst>
              <a:gd name="adj" fmla="val 4423"/>
            </a:avLst>
          </a:prstGeom>
          <a:solidFill>
            <a:srgbClr val="F7EFDE"/>
          </a:solidFill>
          <a:ln w="12700">
            <a:solidFill>
              <a:srgbClr val="E9DA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60500" y="8594725"/>
            <a:ext cx="2359184" cy="3683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8F5C12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Aushang's answer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3833812" y="8569325"/>
            <a:ext cx="13383499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2025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It changes </a:t>
            </a:r>
            <a:pPr algn="l" indent="0" marL="0">
              <a:lnSpc>
                <a:spcPct val="150000"/>
              </a:lnSpc>
              <a:buNone/>
            </a:pPr>
            <a:r>
              <a:rPr lang="en-US" sz="2025" dirty="0">
                <a:solidFill>
                  <a:srgbClr val="8F5C12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none </a:t>
            </a:r>
            <a:pPr algn="l" indent="0" marL="0">
              <a:lnSpc>
                <a:spcPct val="150000"/>
              </a:lnSpc>
              <a:buNone/>
            </a:pPr>
            <a:r>
              <a:rPr lang="en-US" sz="2025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of this process — it enhances it. Staff keep their paper board; one photo feeds the AI and the automation does the rest. No retyping, no second system.</a:t>
            </a:r>
            <a:endParaRPr lang="en-US" sz="20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2126853"/>
            <a:ext cx="16002000" cy="12700"/>
          </a:xfrm>
          <a:prstGeom prst="rect">
            <a:avLst/>
          </a:prstGeom>
          <a:solidFill>
            <a:srgbClr val="C9BFA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800100"/>
            <a:ext cx="17602200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CORE IDEA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" y="1225550"/>
            <a:ext cx="17602200" cy="6917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950" spc="-99" kern="0" dirty="0">
                <a:solidFill>
                  <a:srgbClr val="16141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Two principles, enforced by architecture</a:t>
            </a:r>
            <a:endParaRPr lang="en-US" sz="4950" dirty="0"/>
          </a:p>
        </p:txBody>
      </p:sp>
      <p:sp>
        <p:nvSpPr>
          <p:cNvPr id="5" name="Shape 3"/>
          <p:cNvSpPr/>
          <p:nvPr/>
        </p:nvSpPr>
        <p:spPr>
          <a:xfrm>
            <a:off x="1143000" y="2558653"/>
            <a:ext cx="7810500" cy="6388497"/>
          </a:xfrm>
          <a:prstGeom prst="roundRect">
            <a:avLst>
              <a:gd name="adj" fmla="val 1193"/>
            </a:avLst>
          </a:prstGeom>
          <a:solidFill>
            <a:srgbClr val="FFFEFB"/>
          </a:solidFill>
          <a:ln w="12700">
            <a:solidFill>
              <a:srgbClr val="E5DD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55750" y="3022203"/>
            <a:ext cx="373459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B07219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2024459" y="2971403"/>
            <a:ext cx="4023142" cy="469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Privacy by construction</a:t>
            </a:r>
            <a:endParaRPr lang="en-US" sz="2550" dirty="0"/>
          </a:p>
        </p:txBody>
      </p:sp>
      <p:sp>
        <p:nvSpPr>
          <p:cNvPr id="8" name="Text 6"/>
          <p:cNvSpPr/>
          <p:nvPr/>
        </p:nvSpPr>
        <p:spPr>
          <a:xfrm>
            <a:off x="1555750" y="3612753"/>
            <a:ext cx="7194550" cy="16835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2025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Every child's name, parent, phone number and address is detected and </a:t>
            </a:r>
            <a:pPr algn="l" indent="0" marL="0">
              <a:lnSpc>
                <a:spcPct val="160000"/>
              </a:lnSpc>
              <a:buNone/>
            </a:pPr>
            <a:r>
              <a:rPr lang="en-US" sz="2025" dirty="0">
                <a:solidFill>
                  <a:srgbClr val="8F5C12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masked locally </a:t>
            </a:r>
            <a:pPr algn="l" indent="0" marL="0">
              <a:lnSpc>
                <a:spcPct val="160000"/>
              </a:lnSpc>
              <a:buNone/>
            </a:pPr>
            <a:r>
              <a:rPr lang="en-US" sz="2025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— on our own infrastructure — before any external AI call is made. Redaction is </a:t>
            </a:r>
            <a:pPr algn="l" indent="0" marL="0">
              <a:lnSpc>
                <a:spcPct val="160000"/>
              </a:lnSpc>
              <a:buNone/>
            </a:pPr>
            <a:r>
              <a:rPr lang="en-US" sz="2025" dirty="0">
                <a:solidFill>
                  <a:srgbClr val="8F5C12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fail-closed </a:t>
            </a:r>
            <a:pPr algn="l" indent="0" marL="0">
              <a:lnSpc>
                <a:spcPct val="160000"/>
              </a:lnSpc>
              <a:buNone/>
            </a:pPr>
            <a:r>
              <a:rPr lang="en-US" sz="2025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: when the system is unsure, it masks.</a:t>
            </a:r>
            <a:endParaRPr lang="en-US" sz="2025" dirty="0"/>
          </a:p>
        </p:txBody>
      </p:sp>
      <p:sp>
        <p:nvSpPr>
          <p:cNvPr id="9" name="Text 7"/>
          <p:cNvSpPr/>
          <p:nvPr/>
        </p:nvSpPr>
        <p:spPr>
          <a:xfrm>
            <a:off x="1555750" y="5467747"/>
            <a:ext cx="7194550" cy="16835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2025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Raw photographs never leave the organization's infrastructure, and no un-redacted personal data ever reaches the AI. This is enforced at the architecture layer — not by a written promise.</a:t>
            </a:r>
            <a:endParaRPr lang="en-US" sz="2025" dirty="0"/>
          </a:p>
        </p:txBody>
      </p:sp>
      <p:sp>
        <p:nvSpPr>
          <p:cNvPr id="10" name="Shape 8"/>
          <p:cNvSpPr/>
          <p:nvPr/>
        </p:nvSpPr>
        <p:spPr>
          <a:xfrm>
            <a:off x="9334500" y="2558653"/>
            <a:ext cx="7810500" cy="6388497"/>
          </a:xfrm>
          <a:prstGeom prst="roundRect">
            <a:avLst>
              <a:gd name="adj" fmla="val 1193"/>
            </a:avLst>
          </a:prstGeom>
          <a:solidFill>
            <a:srgbClr val="FFFEFB"/>
          </a:solidFill>
          <a:ln w="12700">
            <a:solidFill>
              <a:srgbClr val="E5DD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47250" y="3022203"/>
            <a:ext cx="373459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B07219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0215960" y="2971403"/>
            <a:ext cx="5487373" cy="469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AI advises, a human decides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747250" y="3612753"/>
            <a:ext cx="7194550" cy="16835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2025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AI only </a:t>
            </a:r>
            <a:pPr algn="l" indent="0" marL="0">
              <a:lnSpc>
                <a:spcPct val="160000"/>
              </a:lnSpc>
              <a:buNone/>
            </a:pPr>
            <a:r>
              <a:rPr lang="en-US" sz="2025" dirty="0">
                <a:solidFill>
                  <a:srgbClr val="8F5C12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suggests </a:t>
            </a:r>
            <a:pPr algn="l" indent="0" marL="0">
              <a:lnSpc>
                <a:spcPct val="160000"/>
              </a:lnSpc>
              <a:buNone/>
            </a:pPr>
            <a:r>
              <a:rPr lang="en-US" sz="2025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— a content type and the fields it can read from the redacted text. Every suggestion is checked against a strict schema; anything malformed routes to a manual path and </a:t>
            </a:r>
            <a:pPr algn="l" indent="0" marL="0">
              <a:lnSpc>
                <a:spcPct val="160000"/>
              </a:lnSpc>
              <a:buNone/>
            </a:pPr>
            <a:r>
              <a:rPr lang="en-US" sz="2025" dirty="0">
                <a:solidFill>
                  <a:srgbClr val="8F5C12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never auto-publishes</a:t>
            </a:r>
            <a:pPr algn="l" indent="0" marL="0">
              <a:lnSpc>
                <a:spcPct val="160000"/>
              </a:lnSpc>
              <a:buNone/>
            </a:pPr>
            <a:r>
              <a:rPr lang="en-US" sz="2025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2025" dirty="0"/>
          </a:p>
        </p:txBody>
      </p:sp>
      <p:sp>
        <p:nvSpPr>
          <p:cNvPr id="14" name="Text 12"/>
          <p:cNvSpPr/>
          <p:nvPr/>
        </p:nvSpPr>
        <p:spPr>
          <a:xfrm>
            <a:off x="9747250" y="5467747"/>
            <a:ext cx="7194550" cy="12721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60000"/>
              </a:lnSpc>
              <a:buNone/>
            </a:pPr>
            <a:r>
              <a:rPr lang="en-US" sz="2025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 admin reviews and confirms before a post reaches a single member — and the system routes only on the </a:t>
            </a:r>
            <a:pPr algn="l" indent="0" marL="0">
              <a:lnSpc>
                <a:spcPct val="160000"/>
              </a:lnSpc>
              <a:buNone/>
            </a:pPr>
            <a:r>
              <a:rPr lang="en-US" sz="2025" dirty="0">
                <a:solidFill>
                  <a:srgbClr val="8F5C12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confirmed </a:t>
            </a:r>
            <a:pPr algn="l" indent="0" marL="0">
              <a:lnSpc>
                <a:spcPct val="160000"/>
              </a:lnSpc>
              <a:buNone/>
            </a:pPr>
            <a:r>
              <a:rPr lang="en-US" sz="2025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value, never on the AI's raw guess.</a:t>
            </a:r>
            <a:endParaRPr lang="en-US" sz="2025" dirty="0"/>
          </a:p>
        </p:txBody>
      </p:sp>
      <p:sp>
        <p:nvSpPr>
          <p:cNvPr id="15" name="Text 13"/>
          <p:cNvSpPr/>
          <p:nvPr/>
        </p:nvSpPr>
        <p:spPr>
          <a:xfrm>
            <a:off x="342900" y="9271000"/>
            <a:ext cx="17602200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2025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Together, these two principles are what keep Aushang out of EU AI Act </a:t>
            </a:r>
            <a:pPr algn="ctr" indent="0" marL="0">
              <a:buNone/>
            </a:pPr>
            <a:r>
              <a:rPr lang="en-US" sz="2025" dirty="0">
                <a:solidFill>
                  <a:srgbClr val="8F5C12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High-risk</a:t>
            </a:r>
            <a:pPr algn="ctr" indent="0" marL="0">
              <a:buNone/>
            </a:pPr>
            <a:r>
              <a:rPr lang="en-US" sz="2025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20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2126853"/>
            <a:ext cx="16002000" cy="12700"/>
          </a:xfrm>
          <a:prstGeom prst="rect">
            <a:avLst/>
          </a:prstGeom>
          <a:solidFill>
            <a:srgbClr val="C9BFA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800100"/>
            <a:ext cx="17602200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PIPELINE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" y="1225550"/>
            <a:ext cx="17602200" cy="6917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950" spc="-99" kern="0" dirty="0">
                <a:solidFill>
                  <a:srgbClr val="16141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From photograph to published post</a:t>
            </a:r>
            <a:endParaRPr lang="en-US" sz="4950" dirty="0"/>
          </a:p>
        </p:txBody>
      </p:sp>
      <p:sp>
        <p:nvSpPr>
          <p:cNvPr id="5" name="Shape 3"/>
          <p:cNvSpPr/>
          <p:nvPr/>
        </p:nvSpPr>
        <p:spPr>
          <a:xfrm>
            <a:off x="857250" y="3864173"/>
            <a:ext cx="1936948" cy="2485827"/>
          </a:xfrm>
          <a:prstGeom prst="roundRect">
            <a:avLst>
              <a:gd name="adj" fmla="val 3934"/>
            </a:avLst>
          </a:prstGeom>
          <a:solidFill>
            <a:srgbClr val="FFFEFB"/>
          </a:solidFill>
          <a:ln w="12700">
            <a:solidFill>
              <a:srgbClr val="E5DD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1400" y="4105474"/>
            <a:ext cx="1725513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7219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41400" y="4511873"/>
            <a:ext cx="1644848" cy="6294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25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Photograph or upload</a:t>
            </a:r>
            <a:endParaRPr lang="en-US" sz="2025" dirty="0"/>
          </a:p>
        </p:txBody>
      </p:sp>
      <p:sp>
        <p:nvSpPr>
          <p:cNvPr id="8" name="Text 6"/>
          <p:cNvSpPr/>
          <p:nvPr/>
        </p:nvSpPr>
        <p:spPr>
          <a:xfrm>
            <a:off x="1041400" y="5217518"/>
            <a:ext cx="1644848" cy="929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Admin shoots the board — or picks an image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870399" y="4891088"/>
            <a:ext cx="400050" cy="469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0721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3270449" y="3864173"/>
            <a:ext cx="1937147" cy="2485827"/>
          </a:xfrm>
          <a:prstGeom prst="roundRect">
            <a:avLst>
              <a:gd name="adj" fmla="val 3934"/>
            </a:avLst>
          </a:prstGeom>
          <a:solidFill>
            <a:srgbClr val="FFFEFB"/>
          </a:solidFill>
          <a:ln w="12700">
            <a:solidFill>
              <a:srgbClr val="E5DDD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54598" y="4105474"/>
            <a:ext cx="1725732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7219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454598" y="4511873"/>
            <a:ext cx="1725732" cy="3337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25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OCR</a:t>
            </a:r>
            <a:endParaRPr lang="en-US" sz="2025" dirty="0"/>
          </a:p>
        </p:txBody>
      </p:sp>
      <p:sp>
        <p:nvSpPr>
          <p:cNvPr id="13" name="Text 11"/>
          <p:cNvSpPr/>
          <p:nvPr/>
        </p:nvSpPr>
        <p:spPr>
          <a:xfrm>
            <a:off x="3454598" y="4921846"/>
            <a:ext cx="1645047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OpenCV + Tesseract (DE)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283796" y="4891088"/>
            <a:ext cx="400050" cy="469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0721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5683846" y="3864173"/>
            <a:ext cx="2015530" cy="2485827"/>
          </a:xfrm>
          <a:prstGeom prst="roundRect">
            <a:avLst>
              <a:gd name="adj" fmla="val 3781"/>
            </a:avLst>
          </a:prstGeom>
          <a:solidFill>
            <a:srgbClr val="FBF1DD"/>
          </a:solidFill>
          <a:ln w="12700">
            <a:solidFill>
              <a:srgbClr val="E9DA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7995" y="4105474"/>
            <a:ext cx="1811953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F5C1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867995" y="4511873"/>
            <a:ext cx="1811953" cy="3337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25" b="1" dirty="0">
                <a:solidFill>
                  <a:srgbClr val="8F5C12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Local redact</a:t>
            </a:r>
            <a:endParaRPr lang="en-US" sz="2025" dirty="0"/>
          </a:p>
        </p:txBody>
      </p:sp>
      <p:sp>
        <p:nvSpPr>
          <p:cNvPr id="18" name="Text 16"/>
          <p:cNvSpPr/>
          <p:nvPr/>
        </p:nvSpPr>
        <p:spPr>
          <a:xfrm>
            <a:off x="5867995" y="4921846"/>
            <a:ext cx="1723430" cy="929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8A6A32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Presidio + spaCy · fail-closed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775575" y="4891088"/>
            <a:ext cx="400050" cy="469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0721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8175625" y="3864173"/>
            <a:ext cx="1936948" cy="2485827"/>
          </a:xfrm>
          <a:prstGeom prst="roundRect">
            <a:avLst>
              <a:gd name="adj" fmla="val 3934"/>
            </a:avLst>
          </a:prstGeom>
          <a:solidFill>
            <a:srgbClr val="FFFEFB"/>
          </a:solidFill>
          <a:ln w="12700">
            <a:solidFill>
              <a:srgbClr val="E5DD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359775" y="4105474"/>
            <a:ext cx="1725513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7219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359775" y="4511873"/>
            <a:ext cx="1725513" cy="3337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25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AI suggests</a:t>
            </a:r>
            <a:endParaRPr lang="en-US" sz="2025" dirty="0"/>
          </a:p>
        </p:txBody>
      </p:sp>
      <p:sp>
        <p:nvSpPr>
          <p:cNvPr id="23" name="Text 21"/>
          <p:cNvSpPr/>
          <p:nvPr/>
        </p:nvSpPr>
        <p:spPr>
          <a:xfrm>
            <a:off x="8359775" y="4921846"/>
            <a:ext cx="1644848" cy="929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Claude — redacted text only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188773" y="4891088"/>
            <a:ext cx="400050" cy="469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0721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2550" dirty="0"/>
          </a:p>
        </p:txBody>
      </p:sp>
      <p:sp>
        <p:nvSpPr>
          <p:cNvPr id="25" name="Shape 23"/>
          <p:cNvSpPr/>
          <p:nvPr/>
        </p:nvSpPr>
        <p:spPr>
          <a:xfrm>
            <a:off x="10588823" y="3864173"/>
            <a:ext cx="1936948" cy="2485827"/>
          </a:xfrm>
          <a:prstGeom prst="roundRect">
            <a:avLst>
              <a:gd name="adj" fmla="val 3934"/>
            </a:avLst>
          </a:prstGeom>
          <a:solidFill>
            <a:srgbClr val="FFFEFB"/>
          </a:solidFill>
          <a:ln w="12700">
            <a:solidFill>
              <a:srgbClr val="E5DD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772974" y="4105474"/>
            <a:ext cx="1725513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7219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772974" y="4511873"/>
            <a:ext cx="1725513" cy="3337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25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Validate</a:t>
            </a:r>
            <a:endParaRPr lang="en-US" sz="2025" dirty="0"/>
          </a:p>
        </p:txBody>
      </p:sp>
      <p:sp>
        <p:nvSpPr>
          <p:cNvPr id="28" name="Text 26"/>
          <p:cNvSpPr/>
          <p:nvPr/>
        </p:nvSpPr>
        <p:spPr>
          <a:xfrm>
            <a:off x="10772974" y="4921846"/>
            <a:ext cx="1644848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Strict JSON · fail → manual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2601973" y="4891088"/>
            <a:ext cx="400050" cy="469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0721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2550" dirty="0"/>
          </a:p>
        </p:txBody>
      </p:sp>
      <p:sp>
        <p:nvSpPr>
          <p:cNvPr id="30" name="Shape 28"/>
          <p:cNvSpPr/>
          <p:nvPr/>
        </p:nvSpPr>
        <p:spPr>
          <a:xfrm>
            <a:off x="13002023" y="3864173"/>
            <a:ext cx="2015530" cy="2485827"/>
          </a:xfrm>
          <a:prstGeom prst="roundRect">
            <a:avLst>
              <a:gd name="adj" fmla="val 3781"/>
            </a:avLst>
          </a:prstGeom>
          <a:solidFill>
            <a:srgbClr val="EEF3EE"/>
          </a:solidFill>
          <a:ln w="12700">
            <a:solidFill>
              <a:srgbClr val="DCE8D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3186172" y="4105474"/>
            <a:ext cx="1811953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3D7A5A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3186172" y="4511873"/>
            <a:ext cx="1723430" cy="6294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25" b="1" dirty="0">
                <a:solidFill>
                  <a:srgbClr val="2F5E4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Admin confirms</a:t>
            </a:r>
            <a:endParaRPr lang="en-US" sz="2025" dirty="0"/>
          </a:p>
        </p:txBody>
      </p:sp>
      <p:sp>
        <p:nvSpPr>
          <p:cNvPr id="33" name="Text 31"/>
          <p:cNvSpPr/>
          <p:nvPr/>
        </p:nvSpPr>
        <p:spPr>
          <a:xfrm>
            <a:off x="13186172" y="5217518"/>
            <a:ext cx="1723430" cy="929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3D7A5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Reviews, corrects, publishes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15093752" y="4891088"/>
            <a:ext cx="400050" cy="469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B0721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2550" dirty="0"/>
          </a:p>
        </p:txBody>
      </p:sp>
      <p:sp>
        <p:nvSpPr>
          <p:cNvPr id="35" name="Shape 33"/>
          <p:cNvSpPr/>
          <p:nvPr/>
        </p:nvSpPr>
        <p:spPr>
          <a:xfrm>
            <a:off x="15493802" y="3864173"/>
            <a:ext cx="1936948" cy="2485827"/>
          </a:xfrm>
          <a:prstGeom prst="roundRect">
            <a:avLst>
              <a:gd name="adj" fmla="val 3934"/>
            </a:avLst>
          </a:prstGeom>
          <a:solidFill>
            <a:srgbClr val="FFFEFB"/>
          </a:solidFill>
          <a:ln w="12700">
            <a:solidFill>
              <a:srgbClr val="E5DDD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5677952" y="4105474"/>
            <a:ext cx="1725513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7219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07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15677952" y="4511873"/>
            <a:ext cx="1725513" cy="3337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25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Fan-out</a:t>
            </a:r>
            <a:endParaRPr lang="en-US" sz="2025" dirty="0"/>
          </a:p>
        </p:txBody>
      </p:sp>
      <p:sp>
        <p:nvSpPr>
          <p:cNvPr id="38" name="Text 36"/>
          <p:cNvSpPr/>
          <p:nvPr/>
        </p:nvSpPr>
        <p:spPr>
          <a:xfrm>
            <a:off x="15677952" y="4921846"/>
            <a:ext cx="1644848" cy="9292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Feed · calendar · ICS · email · push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933450" y="6769100"/>
            <a:ext cx="8221408" cy="8647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2100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only text that crosses to the AI is </a:t>
            </a:r>
            <a:pPr algn="l" indent="0" marL="0">
              <a:lnSpc>
                <a:spcPct val="155000"/>
              </a:lnSpc>
              <a:buNone/>
            </a:pPr>
            <a:r>
              <a:rPr lang="en-US" sz="2100" dirty="0">
                <a:solidFill>
                  <a:srgbClr val="8F5C12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redacted </a:t>
            </a:r>
            <a:pPr algn="l" indent="0" marL="0">
              <a:lnSpc>
                <a:spcPct val="155000"/>
              </a:lnSpc>
              <a:buNone/>
            </a:pPr>
            <a:r>
              <a:rPr lang="en-US" sz="2100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 The only path to a member's screen is an </a:t>
            </a:r>
            <a:pPr algn="l" indent="0" marL="0">
              <a:lnSpc>
                <a:spcPct val="155000"/>
              </a:lnSpc>
              <a:buNone/>
            </a:pPr>
            <a:r>
              <a:rPr lang="en-US" sz="2100" dirty="0">
                <a:solidFill>
                  <a:srgbClr val="8F5C12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admin publish</a:t>
            </a:r>
            <a:pPr algn="l" indent="0" marL="0">
              <a:lnSpc>
                <a:spcPct val="155000"/>
              </a:lnSpc>
              <a:buNone/>
            </a:pPr>
            <a:r>
              <a:rPr lang="en-US" sz="2100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.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9372600" y="6769100"/>
            <a:ext cx="8221408" cy="11453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5000"/>
              </a:lnSpc>
              <a:buNone/>
            </a:pPr>
            <a:r>
              <a:rPr lang="en-US" sz="1875" dirty="0">
                <a:solidFill>
                  <a:srgbClr val="161413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ICS </a:t>
            </a:r>
            <a:pPr algn="l" indent="0" marL="0">
              <a:lnSpc>
                <a:spcPct val="155000"/>
              </a:lnSpc>
              <a:buNone/>
            </a:pPr>
            <a:r>
              <a:rPr lang="en-US" sz="1875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— the standard calendar feed (.ics). Members subscribe once; closures and dates sync to their own phone calendar, no app install needed.</a:t>
            </a:r>
            <a:endParaRPr lang="en-US" sz="187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2126853"/>
            <a:ext cx="16002000" cy="12700"/>
          </a:xfrm>
          <a:prstGeom prst="rect">
            <a:avLst/>
          </a:prstGeom>
          <a:solidFill>
            <a:srgbClr val="C9BFA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800100"/>
            <a:ext cx="17602200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PROOF OF CONCEPT · NO-CODE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" y="1225550"/>
            <a:ext cx="17602200" cy="6917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950" spc="-99" kern="0" dirty="0">
                <a:solidFill>
                  <a:srgbClr val="16141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Proven before a line of app code</a:t>
            </a:r>
            <a:endParaRPr lang="en-US" sz="4950" dirty="0"/>
          </a:p>
        </p:txBody>
      </p:sp>
      <p:sp>
        <p:nvSpPr>
          <p:cNvPr id="5" name="Shape 3"/>
          <p:cNvSpPr/>
          <p:nvPr/>
        </p:nvSpPr>
        <p:spPr>
          <a:xfrm>
            <a:off x="1143000" y="2558653"/>
            <a:ext cx="4434285" cy="3260924"/>
          </a:xfrm>
          <a:prstGeom prst="roundRect">
            <a:avLst>
              <a:gd name="adj" fmla="val 2337"/>
            </a:avLst>
          </a:prstGeom>
          <a:solidFill>
            <a:srgbClr val="FFFEFB"/>
          </a:solidFill>
          <a:ln w="12700">
            <a:solidFill>
              <a:srgbClr val="E5DD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41450" y="2857103"/>
            <a:ext cx="4221123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7219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01 · Redaction boundary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41450" y="3282553"/>
            <a:ext cx="3952506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Proves a Code node owns masking — Claude only ever sees redacted text.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5805885" y="2558653"/>
            <a:ext cx="4434285" cy="3260924"/>
          </a:xfrm>
          <a:prstGeom prst="roundRect">
            <a:avLst>
              <a:gd name="adj" fmla="val 2337"/>
            </a:avLst>
          </a:prstGeom>
          <a:solidFill>
            <a:srgbClr val="FFFEFB"/>
          </a:solidFill>
          <a:ln w="12700">
            <a:solidFill>
              <a:srgbClr val="E5DD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04334" y="2857103"/>
            <a:ext cx="4221123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7219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02 · Extract &amp; validate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104334" y="3282553"/>
            <a:ext cx="3952506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Proves malformed AI output routes to manual — it never auto-publishes.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1143000" y="6048177"/>
            <a:ext cx="4434285" cy="3553024"/>
          </a:xfrm>
          <a:prstGeom prst="roundRect">
            <a:avLst>
              <a:gd name="adj" fmla="val 2145"/>
            </a:avLst>
          </a:prstGeom>
          <a:solidFill>
            <a:srgbClr val="FFFEFB"/>
          </a:solidFill>
          <a:ln w="12700">
            <a:solidFill>
              <a:srgbClr val="E5DD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1450" y="6346627"/>
            <a:ext cx="3952506" cy="622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7219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03 · Confirm, route, publish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1450" y="7064177"/>
            <a:ext cx="3952506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Proves routing reads the admin's confirmed value — flip the type, the route changes.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5805885" y="6048177"/>
            <a:ext cx="4434285" cy="3553024"/>
          </a:xfrm>
          <a:prstGeom prst="roundRect">
            <a:avLst>
              <a:gd name="adj" fmla="val 2145"/>
            </a:avLst>
          </a:prstGeom>
          <a:solidFill>
            <a:srgbClr val="FFFEFB"/>
          </a:solidFill>
          <a:ln w="12700">
            <a:solidFill>
              <a:srgbClr val="E5DD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04334" y="6346627"/>
            <a:ext cx="4221123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7219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04 · Double-gated consent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104334" y="6772077"/>
            <a:ext cx="3952506" cy="1115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Proves a clear photo releases only on member opt-in </a:t>
            </a:r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8F5C12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and </a:t>
            </a:r>
            <a:pPr algn="l" indent="0" marL="0">
              <a:lnSpc>
                <a:spcPct val="145000"/>
              </a:lnSpc>
              <a:buNone/>
            </a:pPr>
            <a:r>
              <a:rPr lang="en-US" sz="1950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admin release.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10621169" y="2558653"/>
            <a:ext cx="6523831" cy="7042547"/>
          </a:xfrm>
          <a:prstGeom prst="roundRect">
            <a:avLst>
              <a:gd name="adj" fmla="val 1168"/>
            </a:avLst>
          </a:prstGeom>
          <a:solidFill>
            <a:srgbClr val="161413"/>
          </a:solidFill>
          <a:ln/>
        </p:spPr>
      </p:sp>
      <p:sp>
        <p:nvSpPr>
          <p:cNvPr id="18" name="Text 16"/>
          <p:cNvSpPr/>
          <p:nvPr/>
        </p:nvSpPr>
        <p:spPr>
          <a:xfrm>
            <a:off x="11040269" y="3942953"/>
            <a:ext cx="6254195" cy="9066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7200" dirty="0">
                <a:solidFill>
                  <a:srgbClr val="E9DAB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52</a:t>
            </a:r>
            <a:endParaRPr lang="en-US" sz="7200" dirty="0"/>
          </a:p>
        </p:txBody>
      </p:sp>
      <p:sp>
        <p:nvSpPr>
          <p:cNvPr id="19" name="Text 17"/>
          <p:cNvSpPr/>
          <p:nvPr/>
        </p:nvSpPr>
        <p:spPr>
          <a:xfrm>
            <a:off x="11040269" y="4887714"/>
            <a:ext cx="6254195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A89B8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assertions · all green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11040269" y="5560814"/>
            <a:ext cx="5685631" cy="9525"/>
          </a:xfrm>
          <a:prstGeom prst="rect">
            <a:avLst/>
          </a:prstGeom>
          <a:solidFill>
            <a:srgbClr val="3D3633"/>
          </a:solidFill>
          <a:ln/>
        </p:spPr>
      </p:sp>
      <p:sp>
        <p:nvSpPr>
          <p:cNvPr id="21" name="Text 19"/>
          <p:cNvSpPr/>
          <p:nvPr/>
        </p:nvSpPr>
        <p:spPr>
          <a:xfrm>
            <a:off x="11040269" y="5913239"/>
            <a:ext cx="6254195" cy="9066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7200" dirty="0">
                <a:solidFill>
                  <a:srgbClr val="E9DAB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</a:t>
            </a:r>
            <a:endParaRPr lang="en-US" sz="7200" dirty="0"/>
          </a:p>
        </p:txBody>
      </p:sp>
      <p:sp>
        <p:nvSpPr>
          <p:cNvPr id="22" name="Text 20"/>
          <p:cNvSpPr/>
          <p:nvPr/>
        </p:nvSpPr>
        <p:spPr>
          <a:xfrm>
            <a:off x="11040269" y="6858000"/>
            <a:ext cx="6254195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A89B8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lines of application code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1040269" y="7531100"/>
            <a:ext cx="5856200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A89B8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Every workflow imports straight into n8n and runs on mock data.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2126853"/>
            <a:ext cx="16002000" cy="12700"/>
          </a:xfrm>
          <a:prstGeom prst="rect">
            <a:avLst/>
          </a:prstGeom>
          <a:solidFill>
            <a:srgbClr val="C9BFA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800100"/>
            <a:ext cx="17602200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PRIVACY · ENFORCEMENT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" y="1225550"/>
            <a:ext cx="17602200" cy="6917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950" spc="-99" kern="0" dirty="0">
                <a:solidFill>
                  <a:srgbClr val="16141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Six mechanisms, not one promise</a:t>
            </a:r>
            <a:endParaRPr lang="en-US" sz="4950" dirty="0"/>
          </a:p>
        </p:txBody>
      </p:sp>
      <p:sp>
        <p:nvSpPr>
          <p:cNvPr id="5" name="Text 3"/>
          <p:cNvSpPr/>
          <p:nvPr/>
        </p:nvSpPr>
        <p:spPr>
          <a:xfrm>
            <a:off x="1143000" y="3968948"/>
            <a:ext cx="224830" cy="14386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B07219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463080" y="3968948"/>
            <a:ext cx="5277823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Local fail-closed redaction</a:t>
            </a:r>
            <a:endParaRPr lang="en-US" sz="2025" dirty="0"/>
          </a:p>
        </p:txBody>
      </p:sp>
      <p:sp>
        <p:nvSpPr>
          <p:cNvPr id="7" name="Text 5"/>
          <p:cNvSpPr/>
          <p:nvPr/>
        </p:nvSpPr>
        <p:spPr>
          <a:xfrm>
            <a:off x="1463080" y="4375349"/>
            <a:ext cx="4941961" cy="7008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Presidio + spaCy + German regex before any external call. On uncertainty, it masks.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4950" y="3968948"/>
            <a:ext cx="224830" cy="14386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B07219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2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905030" y="3968948"/>
            <a:ext cx="5277823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Database column REVOKE</a:t>
            </a:r>
            <a:endParaRPr lang="en-US" sz="2025" dirty="0"/>
          </a:p>
        </p:txBody>
      </p:sp>
      <p:sp>
        <p:nvSpPr>
          <p:cNvPr id="10" name="Text 8"/>
          <p:cNvSpPr/>
          <p:nvPr/>
        </p:nvSpPr>
        <p:spPr>
          <a:xfrm>
            <a:off x="6905030" y="4375349"/>
            <a:ext cx="4941961" cy="7008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Raw-PII columns are revoked at the DB layer — even an admin's browser cannot read them.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026901" y="3968948"/>
            <a:ext cx="224830" cy="14386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B07219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3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346980" y="3968948"/>
            <a:ext cx="5277823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Double-gated photo consent</a:t>
            </a:r>
            <a:endParaRPr lang="en-US" sz="2025" dirty="0"/>
          </a:p>
        </p:txBody>
      </p:sp>
      <p:sp>
        <p:nvSpPr>
          <p:cNvPr id="13" name="Text 11"/>
          <p:cNvSpPr/>
          <p:nvPr/>
        </p:nvSpPr>
        <p:spPr>
          <a:xfrm>
            <a:off x="12346980" y="4375349"/>
            <a:ext cx="4941961" cy="10322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clear photo is released only on member opt-in and admin release, via short-TTL signed URLs.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143000" y="5617171"/>
            <a:ext cx="224830" cy="14386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B07219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4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463080" y="5617171"/>
            <a:ext cx="5277823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Reflection photo deleted at publish</a:t>
            </a:r>
            <a:endParaRPr lang="en-US" sz="2025" dirty="0"/>
          </a:p>
        </p:txBody>
      </p:sp>
      <p:sp>
        <p:nvSpPr>
          <p:cNvPr id="16" name="Text 14"/>
          <p:cNvSpPr/>
          <p:nvPr/>
        </p:nvSpPr>
        <p:spPr>
          <a:xfrm>
            <a:off x="1463080" y="6023571"/>
            <a:ext cx="4941961" cy="10322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Rückblick originals — most likely to show children — are deleted from storage at publish.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584950" y="5617171"/>
            <a:ext cx="224830" cy="14386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B07219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5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6905030" y="5617171"/>
            <a:ext cx="5277823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Build-blocking secret scan</a:t>
            </a:r>
            <a:endParaRPr lang="en-US" sz="2025" dirty="0"/>
          </a:p>
        </p:txBody>
      </p:sp>
      <p:sp>
        <p:nvSpPr>
          <p:cNvPr id="19" name="Text 17"/>
          <p:cNvSpPr/>
          <p:nvPr/>
        </p:nvSpPr>
        <p:spPr>
          <a:xfrm>
            <a:off x="6905030" y="6023571"/>
            <a:ext cx="4941961" cy="10322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leaked service-role or LLM key blocks the build before deploy. No key ships to the browser.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026901" y="5617171"/>
            <a:ext cx="224830" cy="14386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B07219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6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12346980" y="5617171"/>
            <a:ext cx="5277823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Adversarial security review</a:t>
            </a:r>
            <a:endParaRPr lang="en-US" sz="2025" dirty="0"/>
          </a:p>
        </p:txBody>
      </p:sp>
      <p:sp>
        <p:nvSpPr>
          <p:cNvPr id="22" name="Text 20"/>
          <p:cNvSpPr/>
          <p:nvPr/>
        </p:nvSpPr>
        <p:spPr>
          <a:xfrm>
            <a:off x="12346980" y="6023571"/>
            <a:ext cx="4941961" cy="10322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four-layer model — middleware, helpers, security-definer RPCs, RLS — reviewed adversarially.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143000" y="8771136"/>
            <a:ext cx="16002000" cy="830064"/>
          </a:xfrm>
          <a:prstGeom prst="roundRect">
            <a:avLst>
              <a:gd name="adj" fmla="val 6885"/>
            </a:avLst>
          </a:prstGeom>
          <a:solidFill>
            <a:srgbClr val="161413"/>
          </a:solidFill>
          <a:ln/>
        </p:spPr>
      </p:sp>
      <p:sp>
        <p:nvSpPr>
          <p:cNvPr id="24" name="Text 22"/>
          <p:cNvSpPr/>
          <p:nvPr/>
        </p:nvSpPr>
        <p:spPr>
          <a:xfrm>
            <a:off x="1207770" y="8999736"/>
            <a:ext cx="15872460" cy="4109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45000"/>
              </a:lnSpc>
              <a:buNone/>
            </a:pPr>
            <a:r>
              <a:rPr lang="en-US" sz="2025" dirty="0">
                <a:solidFill>
                  <a:srgbClr val="F7F4ED"/>
                </a:solidFill>
                <a:highlight>
                  <a:srgbClr val="161413"/>
                </a:highlight>
                <a:latin typeface="Geist" pitchFamily="34" charset="0"/>
                <a:ea typeface="Geist" pitchFamily="34" charset="-122"/>
                <a:cs typeface="Geist" pitchFamily="34" charset="-120"/>
              </a:rPr>
              <a:t>No raw image and no un-redacted PII is </a:t>
            </a:r>
            <a:pPr algn="ctr" indent="0" marL="0">
              <a:lnSpc>
                <a:spcPct val="145000"/>
              </a:lnSpc>
              <a:buNone/>
            </a:pPr>
            <a:r>
              <a:rPr lang="en-US" sz="2025" dirty="0">
                <a:solidFill>
                  <a:srgbClr val="E9DAB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ever </a:t>
            </a:r>
            <a:pPr algn="ctr" indent="0" marL="0">
              <a:lnSpc>
                <a:spcPct val="145000"/>
              </a:lnSpc>
              <a:buNone/>
            </a:pPr>
            <a:r>
              <a:rPr lang="en-US" sz="2025" dirty="0">
                <a:solidFill>
                  <a:srgbClr val="F7F4ED"/>
                </a:solidFill>
                <a:highlight>
                  <a:srgbClr val="161413"/>
                </a:highlight>
                <a:latin typeface="Geist" pitchFamily="34" charset="0"/>
                <a:ea typeface="Geist" pitchFamily="34" charset="-122"/>
                <a:cs typeface="Geist" pitchFamily="34" charset="-120"/>
              </a:rPr>
              <a:t>sent to the AI — redaction sits upstream of every external call, by architecture.</a:t>
            </a:r>
            <a:endParaRPr lang="en-US" sz="20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2126853"/>
            <a:ext cx="16002000" cy="12700"/>
          </a:xfrm>
          <a:prstGeom prst="rect">
            <a:avLst/>
          </a:prstGeom>
          <a:solidFill>
            <a:srgbClr val="C9BFA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800100"/>
            <a:ext cx="17602200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LIVE SYSTEM · NOT A MOCKUP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" y="1225550"/>
            <a:ext cx="17602200" cy="6917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950" spc="-99" kern="0" dirty="0">
                <a:solidFill>
                  <a:srgbClr val="16141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real Kita, today</a:t>
            </a:r>
            <a:endParaRPr lang="en-US" sz="4950" dirty="0"/>
          </a:p>
        </p:txBody>
      </p:sp>
      <p:sp>
        <p:nvSpPr>
          <p:cNvPr id="5" name="Shape 3"/>
          <p:cNvSpPr/>
          <p:nvPr/>
        </p:nvSpPr>
        <p:spPr>
          <a:xfrm>
            <a:off x="1143000" y="2482453"/>
            <a:ext cx="3800475" cy="5519539"/>
          </a:xfrm>
          <a:prstGeom prst="roundRect">
            <a:avLst>
              <a:gd name="adj" fmla="val 2005"/>
            </a:avLst>
          </a:prstGeom>
          <a:solidFill>
            <a:srgbClr val="FFFEFB"/>
          </a:solidFill>
          <a:ln w="12700">
            <a:solidFill>
              <a:srgbClr val="E5DDD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55700" y="2495153"/>
            <a:ext cx="3775075" cy="549413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43000" y="8154392"/>
            <a:ext cx="4180523" cy="355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Capture</a:t>
            </a:r>
            <a:endParaRPr lang="en-US" sz="1875" dirty="0"/>
          </a:p>
        </p:txBody>
      </p:sp>
      <p:sp>
        <p:nvSpPr>
          <p:cNvPr id="8" name="Text 5"/>
          <p:cNvSpPr/>
          <p:nvPr/>
        </p:nvSpPr>
        <p:spPr>
          <a:xfrm>
            <a:off x="1143000" y="8471892"/>
            <a:ext cx="4180523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Photograph the board, or upload.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5210175" y="2482453"/>
            <a:ext cx="3800475" cy="5222478"/>
          </a:xfrm>
          <a:prstGeom prst="roundRect">
            <a:avLst>
              <a:gd name="adj" fmla="val 2005"/>
            </a:avLst>
          </a:prstGeom>
          <a:solidFill>
            <a:srgbClr val="FFFEFB"/>
          </a:solidFill>
          <a:ln w="12700">
            <a:solidFill>
              <a:srgbClr val="E5DDD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222875" y="2495153"/>
            <a:ext cx="3775075" cy="519707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210175" y="7857331"/>
            <a:ext cx="4180523" cy="355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Private feed</a:t>
            </a:r>
            <a:endParaRPr lang="en-US" sz="1875" dirty="0"/>
          </a:p>
        </p:txBody>
      </p:sp>
      <p:sp>
        <p:nvSpPr>
          <p:cNvPr id="12" name="Text 8"/>
          <p:cNvSpPr/>
          <p:nvPr/>
        </p:nvSpPr>
        <p:spPr>
          <a:xfrm>
            <a:off x="5210175" y="8174831"/>
            <a:ext cx="3914489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Typed posts — Termin, Info, Rückblick.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9277350" y="2482453"/>
            <a:ext cx="3800475" cy="5222478"/>
          </a:xfrm>
          <a:prstGeom prst="roundRect">
            <a:avLst>
              <a:gd name="adj" fmla="val 2005"/>
            </a:avLst>
          </a:prstGeom>
          <a:solidFill>
            <a:srgbClr val="FFFEFB"/>
          </a:solidFill>
          <a:ln w="12700">
            <a:solidFill>
              <a:srgbClr val="E5DDD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9290050" y="2495153"/>
            <a:ext cx="3775075" cy="519707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277350" y="7857331"/>
            <a:ext cx="4180523" cy="355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Calendar + ICS</a:t>
            </a:r>
            <a:endParaRPr lang="en-US" sz="1875" dirty="0"/>
          </a:p>
        </p:txBody>
      </p:sp>
      <p:sp>
        <p:nvSpPr>
          <p:cNvPr id="16" name="Text 11"/>
          <p:cNvSpPr/>
          <p:nvPr/>
        </p:nvSpPr>
        <p:spPr>
          <a:xfrm>
            <a:off x="9277350" y="8174831"/>
            <a:ext cx="3914489" cy="632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Subscribe once; dates sync to the phone.</a:t>
            </a:r>
            <a:endParaRPr lang="en-US" sz="1800" dirty="0"/>
          </a:p>
        </p:txBody>
      </p:sp>
      <p:sp>
        <p:nvSpPr>
          <p:cNvPr id="17" name="Shape 12"/>
          <p:cNvSpPr/>
          <p:nvPr/>
        </p:nvSpPr>
        <p:spPr>
          <a:xfrm>
            <a:off x="13344525" y="2482453"/>
            <a:ext cx="3800475" cy="5519539"/>
          </a:xfrm>
          <a:prstGeom prst="roundRect">
            <a:avLst>
              <a:gd name="adj" fmla="val 2005"/>
            </a:avLst>
          </a:prstGeom>
          <a:solidFill>
            <a:srgbClr val="FFFEFB"/>
          </a:solidFill>
          <a:ln w="12700">
            <a:solidFill>
              <a:srgbClr val="E5DDD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13357225" y="2495153"/>
            <a:ext cx="3775075" cy="549413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3344525" y="8154392"/>
            <a:ext cx="4180523" cy="355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Members</a:t>
            </a:r>
            <a:endParaRPr lang="en-US" sz="1875" dirty="0"/>
          </a:p>
        </p:txBody>
      </p:sp>
      <p:sp>
        <p:nvSpPr>
          <p:cNvPr id="20" name="Text 14"/>
          <p:cNvSpPr/>
          <p:nvPr/>
        </p:nvSpPr>
        <p:spPr>
          <a:xfrm>
            <a:off x="13344525" y="8471892"/>
            <a:ext cx="4180523" cy="3351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Invite-only, groups, QR onboarding.</a:t>
            </a:r>
            <a:endParaRPr lang="en-US" sz="1800" dirty="0"/>
          </a:p>
        </p:txBody>
      </p:sp>
      <p:sp>
        <p:nvSpPr>
          <p:cNvPr id="21" name="Text 15"/>
          <p:cNvSpPr/>
          <p:nvPr/>
        </p:nvSpPr>
        <p:spPr>
          <a:xfrm>
            <a:off x="1143000" y="9016603"/>
            <a:ext cx="5029200" cy="355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161413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kita-connect.cloud · invite-only</a:t>
            </a:r>
            <a:endParaRPr lang="en-US" sz="1875" dirty="0"/>
          </a:p>
        </p:txBody>
      </p:sp>
      <p:sp>
        <p:nvSpPr>
          <p:cNvPr id="22" name="Text 16"/>
          <p:cNvSpPr/>
          <p:nvPr/>
        </p:nvSpPr>
        <p:spPr>
          <a:xfrm>
            <a:off x="9541073" y="9029304"/>
            <a:ext cx="8364319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German UI today · English &amp; Russian in product · Android shell builds in CI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2126853"/>
            <a:ext cx="16002000" cy="12700"/>
          </a:xfrm>
          <a:prstGeom prst="rect">
            <a:avLst/>
          </a:prstGeom>
          <a:solidFill>
            <a:srgbClr val="C9BFA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800100"/>
            <a:ext cx="17602200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ROI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" y="1225550"/>
            <a:ext cx="17602200" cy="6917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950" spc="-99" kern="0" dirty="0">
                <a:solidFill>
                  <a:srgbClr val="16141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Pricing, break-even, and the honest read</a:t>
            </a:r>
            <a:endParaRPr lang="en-US" sz="4950" dirty="0"/>
          </a:p>
        </p:txBody>
      </p:sp>
      <p:sp>
        <p:nvSpPr>
          <p:cNvPr id="5" name="Shape 3"/>
          <p:cNvSpPr/>
          <p:nvPr/>
        </p:nvSpPr>
        <p:spPr>
          <a:xfrm>
            <a:off x="1143000" y="2520553"/>
            <a:ext cx="3829050" cy="1844675"/>
          </a:xfrm>
          <a:prstGeom prst="roundRect">
            <a:avLst>
              <a:gd name="adj" fmla="val 4131"/>
            </a:avLst>
          </a:prstGeom>
          <a:solidFill>
            <a:srgbClr val="FFFEFB"/>
          </a:solidFill>
          <a:ln w="12700">
            <a:solidFill>
              <a:srgbClr val="E5DD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41450" y="2799953"/>
            <a:ext cx="3555365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650" dirty="0">
                <a:solidFill>
                  <a:srgbClr val="16141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€15</a:t>
            </a:r>
            <a:pPr algn="l" indent="0" marL="0">
              <a:lnSpc>
                <a:spcPct val="100000"/>
              </a:lnSpc>
              <a:buNone/>
            </a:pPr>
            <a:r>
              <a:rPr lang="en-US" sz="2250" dirty="0">
                <a:solidFill>
                  <a:srgbClr val="75695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/mo</a:t>
            </a:r>
            <a:endParaRPr lang="en-US" sz="4650" dirty="0"/>
          </a:p>
        </p:txBody>
      </p:sp>
      <p:sp>
        <p:nvSpPr>
          <p:cNvPr id="7" name="Text 5"/>
          <p:cNvSpPr/>
          <p:nvPr/>
        </p:nvSpPr>
        <p:spPr>
          <a:xfrm>
            <a:off x="1441450" y="3466703"/>
            <a:ext cx="3329115" cy="6572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75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per org — covers infra, nothing more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5200650" y="2520553"/>
            <a:ext cx="3829050" cy="1844675"/>
          </a:xfrm>
          <a:prstGeom prst="roundRect">
            <a:avLst>
              <a:gd name="adj" fmla="val 4131"/>
            </a:avLst>
          </a:prstGeom>
          <a:solidFill>
            <a:srgbClr val="FFFEFB"/>
          </a:solidFill>
          <a:ln w="12700">
            <a:solidFill>
              <a:srgbClr val="E5DD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99100" y="2799953"/>
            <a:ext cx="3555365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650" dirty="0">
                <a:solidFill>
                  <a:srgbClr val="16141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~15</a:t>
            </a:r>
            <a:pPr algn="l" indent="0" marL="0">
              <a:lnSpc>
                <a:spcPct val="100000"/>
              </a:lnSpc>
              <a:buNone/>
            </a:pPr>
            <a:r>
              <a:rPr lang="en-US" sz="2250" dirty="0">
                <a:solidFill>
                  <a:srgbClr val="75695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orgs</a:t>
            </a:r>
            <a:endParaRPr lang="en-US" sz="4650" dirty="0"/>
          </a:p>
        </p:txBody>
      </p:sp>
      <p:sp>
        <p:nvSpPr>
          <p:cNvPr id="10" name="Text 8"/>
          <p:cNvSpPr/>
          <p:nvPr/>
        </p:nvSpPr>
        <p:spPr>
          <a:xfrm>
            <a:off x="5499100" y="3466703"/>
            <a:ext cx="355536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75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cash break-even on infra</a:t>
            </a:r>
            <a:endParaRPr lang="en-US" sz="1875" dirty="0"/>
          </a:p>
        </p:txBody>
      </p:sp>
      <p:sp>
        <p:nvSpPr>
          <p:cNvPr id="11" name="Shape 9"/>
          <p:cNvSpPr/>
          <p:nvPr/>
        </p:nvSpPr>
        <p:spPr>
          <a:xfrm>
            <a:off x="9258300" y="2520553"/>
            <a:ext cx="3829050" cy="1844675"/>
          </a:xfrm>
          <a:prstGeom prst="roundRect">
            <a:avLst>
              <a:gd name="adj" fmla="val 4131"/>
            </a:avLst>
          </a:prstGeom>
          <a:solidFill>
            <a:srgbClr val="FFFEFB"/>
          </a:solidFill>
          <a:ln w="12700">
            <a:solidFill>
              <a:srgbClr val="E5DDD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56750" y="2799953"/>
            <a:ext cx="3555365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650" dirty="0">
                <a:solidFill>
                  <a:srgbClr val="3D7A5A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+177%</a:t>
            </a:r>
            <a:endParaRPr lang="en-US" sz="4650" dirty="0"/>
          </a:p>
        </p:txBody>
      </p:sp>
      <p:sp>
        <p:nvSpPr>
          <p:cNvPr id="13" name="Text 11"/>
          <p:cNvSpPr/>
          <p:nvPr/>
        </p:nvSpPr>
        <p:spPr>
          <a:xfrm>
            <a:off x="9556750" y="3466703"/>
            <a:ext cx="355536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75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12-mo cash ROI · 20 orgs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13315950" y="2520553"/>
            <a:ext cx="3829050" cy="1844675"/>
          </a:xfrm>
          <a:prstGeom prst="roundRect">
            <a:avLst>
              <a:gd name="adj" fmla="val 4131"/>
            </a:avLst>
          </a:prstGeom>
          <a:solidFill>
            <a:srgbClr val="FFFEFB"/>
          </a:solidFill>
          <a:ln w="12700">
            <a:solidFill>
              <a:srgbClr val="E5DD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614400" y="2799953"/>
            <a:ext cx="3555365" cy="628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650" dirty="0">
                <a:solidFill>
                  <a:srgbClr val="B5462E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−80%</a:t>
            </a:r>
            <a:endParaRPr lang="en-US" sz="4650" dirty="0"/>
          </a:p>
        </p:txBody>
      </p:sp>
      <p:sp>
        <p:nvSpPr>
          <p:cNvPr id="16" name="Text 14"/>
          <p:cNvSpPr/>
          <p:nvPr/>
        </p:nvSpPr>
        <p:spPr>
          <a:xfrm>
            <a:off x="13614400" y="3466703"/>
            <a:ext cx="355536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875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36-mo all-in · incl. €35k build</a:t>
            </a:r>
            <a:endParaRPr lang="en-US" sz="1875" dirty="0"/>
          </a:p>
        </p:txBody>
      </p:sp>
      <p:sp>
        <p:nvSpPr>
          <p:cNvPr id="17" name="Shape 15"/>
          <p:cNvSpPr/>
          <p:nvPr/>
        </p:nvSpPr>
        <p:spPr>
          <a:xfrm>
            <a:off x="1143000" y="4593828"/>
            <a:ext cx="9208096" cy="5007372"/>
          </a:xfrm>
          <a:prstGeom prst="roundRect">
            <a:avLst>
              <a:gd name="adj" fmla="val 1522"/>
            </a:avLst>
          </a:prstGeom>
          <a:solidFill>
            <a:srgbClr val="FFFEFB"/>
          </a:solidFill>
          <a:ln w="12700">
            <a:solidFill>
              <a:srgbClr val="E5DD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79550" y="4892278"/>
            <a:ext cx="9388495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How the money works</a:t>
            </a:r>
            <a:endParaRPr lang="en-US" sz="2025" dirty="0"/>
          </a:p>
        </p:txBody>
      </p:sp>
      <p:sp>
        <p:nvSpPr>
          <p:cNvPr id="19" name="Shape 17"/>
          <p:cNvSpPr/>
          <p:nvPr/>
        </p:nvSpPr>
        <p:spPr>
          <a:xfrm>
            <a:off x="1479550" y="5825728"/>
            <a:ext cx="8534995" cy="12700"/>
          </a:xfrm>
          <a:prstGeom prst="rect">
            <a:avLst/>
          </a:prstGeom>
          <a:solidFill>
            <a:srgbClr val="EEE7DA"/>
          </a:solidFill>
          <a:ln/>
        </p:spPr>
      </p:sp>
      <p:sp>
        <p:nvSpPr>
          <p:cNvPr id="20" name="Text 18"/>
          <p:cNvSpPr/>
          <p:nvPr/>
        </p:nvSpPr>
        <p:spPr>
          <a:xfrm>
            <a:off x="1479550" y="5393928"/>
            <a:ext cx="1995746" cy="355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Cash infra / year</a:t>
            </a:r>
            <a:endParaRPr lang="en-US" sz="1875" dirty="0"/>
          </a:p>
        </p:txBody>
      </p:sp>
      <p:sp>
        <p:nvSpPr>
          <p:cNvPr id="21" name="Text 19"/>
          <p:cNvSpPr/>
          <p:nvPr/>
        </p:nvSpPr>
        <p:spPr>
          <a:xfrm>
            <a:off x="8883452" y="5393928"/>
            <a:ext cx="1207294" cy="355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3D3633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≈ €1.300</a:t>
            </a:r>
            <a:endParaRPr lang="en-US" sz="1875" dirty="0"/>
          </a:p>
        </p:txBody>
      </p:sp>
      <p:sp>
        <p:nvSpPr>
          <p:cNvPr id="22" name="Shape 20"/>
          <p:cNvSpPr/>
          <p:nvPr/>
        </p:nvSpPr>
        <p:spPr>
          <a:xfrm>
            <a:off x="1479550" y="6441679"/>
            <a:ext cx="8534995" cy="12700"/>
          </a:xfrm>
          <a:prstGeom prst="rect">
            <a:avLst/>
          </a:prstGeom>
          <a:solidFill>
            <a:srgbClr val="EEE7DA"/>
          </a:solidFill>
          <a:ln/>
        </p:spPr>
      </p:sp>
      <p:sp>
        <p:nvSpPr>
          <p:cNvPr id="23" name="Text 21"/>
          <p:cNvSpPr/>
          <p:nvPr/>
        </p:nvSpPr>
        <p:spPr>
          <a:xfrm>
            <a:off x="1479550" y="6009879"/>
            <a:ext cx="4462105" cy="355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LLM (Claude Haiku, once per capture)</a:t>
            </a:r>
            <a:endParaRPr lang="en-US" sz="1875" dirty="0"/>
          </a:p>
        </p:txBody>
      </p:sp>
      <p:sp>
        <p:nvSpPr>
          <p:cNvPr id="24" name="Text 22"/>
          <p:cNvSpPr/>
          <p:nvPr/>
        </p:nvSpPr>
        <p:spPr>
          <a:xfrm>
            <a:off x="9312077" y="6009879"/>
            <a:ext cx="778669" cy="355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3D3633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≈ €60</a:t>
            </a:r>
            <a:endParaRPr lang="en-US" sz="1875" dirty="0"/>
          </a:p>
        </p:txBody>
      </p:sp>
      <p:sp>
        <p:nvSpPr>
          <p:cNvPr id="25" name="Shape 23"/>
          <p:cNvSpPr/>
          <p:nvPr/>
        </p:nvSpPr>
        <p:spPr>
          <a:xfrm>
            <a:off x="1479550" y="7057628"/>
            <a:ext cx="8534995" cy="12700"/>
          </a:xfrm>
          <a:prstGeom prst="rect">
            <a:avLst/>
          </a:prstGeom>
          <a:solidFill>
            <a:srgbClr val="EEE7DA"/>
          </a:solidFill>
          <a:ln/>
        </p:spPr>
      </p:sp>
      <p:sp>
        <p:nvSpPr>
          <p:cNvPr id="26" name="Text 24"/>
          <p:cNvSpPr/>
          <p:nvPr/>
        </p:nvSpPr>
        <p:spPr>
          <a:xfrm>
            <a:off x="1479550" y="6625828"/>
            <a:ext cx="3149362" cy="355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20 orgs × €15/mo revenue</a:t>
            </a:r>
            <a:endParaRPr lang="en-US" sz="1875" dirty="0"/>
          </a:p>
        </p:txBody>
      </p:sp>
      <p:sp>
        <p:nvSpPr>
          <p:cNvPr id="27" name="Text 25"/>
          <p:cNvSpPr/>
          <p:nvPr/>
        </p:nvSpPr>
        <p:spPr>
          <a:xfrm>
            <a:off x="9157296" y="6625828"/>
            <a:ext cx="933450" cy="355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dirty="0">
                <a:solidFill>
                  <a:srgbClr val="3D3633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€3.600</a:t>
            </a:r>
            <a:endParaRPr lang="en-US" sz="1875" dirty="0"/>
          </a:p>
        </p:txBody>
      </p:sp>
      <p:sp>
        <p:nvSpPr>
          <p:cNvPr id="28" name="Text 26"/>
          <p:cNvSpPr/>
          <p:nvPr/>
        </p:nvSpPr>
        <p:spPr>
          <a:xfrm>
            <a:off x="1479550" y="7241778"/>
            <a:ext cx="2163822" cy="355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Net (12-mo, cash)</a:t>
            </a:r>
            <a:endParaRPr lang="en-US" sz="1875" dirty="0"/>
          </a:p>
        </p:txBody>
      </p:sp>
      <p:sp>
        <p:nvSpPr>
          <p:cNvPr id="29" name="Text 27"/>
          <p:cNvSpPr/>
          <p:nvPr/>
        </p:nvSpPr>
        <p:spPr>
          <a:xfrm>
            <a:off x="9014421" y="7241778"/>
            <a:ext cx="1076325" cy="355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3D7A5A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+€2.300</a:t>
            </a:r>
            <a:endParaRPr lang="en-US" sz="1875" dirty="0"/>
          </a:p>
        </p:txBody>
      </p:sp>
      <p:sp>
        <p:nvSpPr>
          <p:cNvPr id="30" name="Text 28"/>
          <p:cNvSpPr/>
          <p:nvPr/>
        </p:nvSpPr>
        <p:spPr>
          <a:xfrm>
            <a:off x="1479550" y="7768828"/>
            <a:ext cx="8791045" cy="677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first Kita — my own child's — runs the pilot at cost. Every additional Kita pays €15/mo just to cover infrastructure.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0579696" y="4593828"/>
            <a:ext cx="6565305" cy="1921272"/>
          </a:xfrm>
          <a:prstGeom prst="roundRect">
            <a:avLst>
              <a:gd name="adj" fmla="val 3966"/>
            </a:avLst>
          </a:prstGeom>
          <a:solidFill>
            <a:srgbClr val="E6EEF2"/>
          </a:solidFill>
          <a:ln w="12700">
            <a:solidFill>
              <a:srgbClr val="D2DFE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878145" y="4854178"/>
            <a:ext cx="6565245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2B5F7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App-store line</a:t>
            </a:r>
            <a:endParaRPr lang="en-US" sz="1950" dirty="0"/>
          </a:p>
        </p:txBody>
      </p:sp>
      <p:sp>
        <p:nvSpPr>
          <p:cNvPr id="33" name="Text 31"/>
          <p:cNvSpPr/>
          <p:nvPr/>
        </p:nvSpPr>
        <p:spPr>
          <a:xfrm>
            <a:off x="10878145" y="5260578"/>
            <a:ext cx="6147457" cy="103227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one-time €6 app purchase on Apple &amp; Google — incremental revenue and a credibility signal for the channel.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10579696" y="6743700"/>
            <a:ext cx="6565305" cy="2857500"/>
          </a:xfrm>
          <a:prstGeom prst="roundRect">
            <a:avLst>
              <a:gd name="adj" fmla="val 2667"/>
            </a:avLst>
          </a:prstGeom>
          <a:solidFill>
            <a:srgbClr val="F7EFDE"/>
          </a:solidFill>
          <a:ln w="12700">
            <a:solidFill>
              <a:srgbClr val="E9DA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878145" y="7451328"/>
            <a:ext cx="6565245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8F5C12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honest read</a:t>
            </a:r>
            <a:endParaRPr lang="en-US" sz="1950" dirty="0"/>
          </a:p>
        </p:txBody>
      </p:sp>
      <p:sp>
        <p:nvSpPr>
          <p:cNvPr id="36" name="Text 34"/>
          <p:cNvSpPr/>
          <p:nvPr/>
        </p:nvSpPr>
        <p:spPr>
          <a:xfrm>
            <a:off x="10878145" y="7857729"/>
            <a:ext cx="6147457" cy="10739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Cheap to run, feature proven. The lever is a </a:t>
            </a:r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8F5C12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channel </a:t>
            </a:r>
            <a:pPr algn="l" indent="0" marL="0">
              <a:lnSpc>
                <a:spcPct val="145000"/>
              </a:lnSpc>
              <a:buNone/>
            </a:pPr>
            <a:r>
              <a:rPr lang="en-US" sz="1875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, not technology: €25/org × 150 Kitas via an association ≈ €45k/yr — the build repays inside year 1.</a:t>
            </a:r>
            <a:endParaRPr lang="en-US" sz="187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2126853"/>
            <a:ext cx="16002000" cy="12700"/>
          </a:xfrm>
          <a:prstGeom prst="rect">
            <a:avLst/>
          </a:prstGeom>
          <a:solidFill>
            <a:srgbClr val="C9BFA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800100"/>
            <a:ext cx="17602200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RISK · LIKELIHOOD × IMPACT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" y="1225550"/>
            <a:ext cx="17602200" cy="6917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950" spc="-99" kern="0" dirty="0">
                <a:solidFill>
                  <a:srgbClr val="16141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Eight risks, scored and mitigated</a:t>
            </a:r>
            <a:endParaRPr lang="en-US" sz="4950" dirty="0"/>
          </a:p>
        </p:txBody>
      </p:sp>
      <p:sp>
        <p:nvSpPr>
          <p:cNvPr id="5" name="Text 3"/>
          <p:cNvSpPr/>
          <p:nvPr/>
        </p:nvSpPr>
        <p:spPr>
          <a:xfrm rot="10800000">
            <a:off x="1141413" y="5384602"/>
            <a:ext cx="371475" cy="13906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 vert="eaVer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IMPACT →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568450" y="2520553"/>
            <a:ext cx="1104900" cy="685800"/>
          </a:xfrm>
          <a:prstGeom prst="roundRect">
            <a:avLst>
              <a:gd name="adj" fmla="val 5556"/>
            </a:avLst>
          </a:prstGeom>
          <a:solidFill>
            <a:srgbClr val="F7F1EA"/>
          </a:solidFill>
          <a:ln/>
        </p:spPr>
      </p:sp>
      <p:sp>
        <p:nvSpPr>
          <p:cNvPr id="7" name="Shape 5"/>
          <p:cNvSpPr/>
          <p:nvPr/>
        </p:nvSpPr>
        <p:spPr>
          <a:xfrm>
            <a:off x="2749550" y="2520553"/>
            <a:ext cx="1104900" cy="685800"/>
          </a:xfrm>
          <a:prstGeom prst="roundRect">
            <a:avLst>
              <a:gd name="adj" fmla="val 5556"/>
            </a:avLst>
          </a:prstGeom>
          <a:solidFill>
            <a:srgbClr val="F6E7CF"/>
          </a:solidFill>
          <a:ln/>
        </p:spPr>
      </p:sp>
      <p:sp>
        <p:nvSpPr>
          <p:cNvPr id="8" name="Shape 6"/>
          <p:cNvSpPr/>
          <p:nvPr/>
        </p:nvSpPr>
        <p:spPr>
          <a:xfrm>
            <a:off x="3930650" y="2520553"/>
            <a:ext cx="1104900" cy="685800"/>
          </a:xfrm>
          <a:prstGeom prst="roundRect">
            <a:avLst>
              <a:gd name="adj" fmla="val 5556"/>
            </a:avLst>
          </a:prstGeom>
          <a:solidFill>
            <a:srgbClr val="ECCFC7"/>
          </a:solidFill>
          <a:ln/>
        </p:spPr>
      </p:sp>
      <p:sp>
        <p:nvSpPr>
          <p:cNvPr id="9" name="Text 7"/>
          <p:cNvSpPr/>
          <p:nvPr/>
        </p:nvSpPr>
        <p:spPr>
          <a:xfrm>
            <a:off x="4340225" y="2704703"/>
            <a:ext cx="361950" cy="355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8A2F1C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R1</a:t>
            </a:r>
            <a:endParaRPr lang="en-US" sz="1875" dirty="0"/>
          </a:p>
        </p:txBody>
      </p:sp>
      <p:sp>
        <p:nvSpPr>
          <p:cNvPr id="10" name="Shape 8"/>
          <p:cNvSpPr/>
          <p:nvPr/>
        </p:nvSpPr>
        <p:spPr>
          <a:xfrm>
            <a:off x="5111750" y="2520553"/>
            <a:ext cx="1104900" cy="685800"/>
          </a:xfrm>
          <a:prstGeom prst="roundRect">
            <a:avLst>
              <a:gd name="adj" fmla="val 5556"/>
            </a:avLst>
          </a:prstGeom>
          <a:solidFill>
            <a:srgbClr val="E9C9BC"/>
          </a:solidFill>
          <a:ln/>
        </p:spPr>
      </p:sp>
      <p:sp>
        <p:nvSpPr>
          <p:cNvPr id="11" name="Shape 9"/>
          <p:cNvSpPr/>
          <p:nvPr/>
        </p:nvSpPr>
        <p:spPr>
          <a:xfrm>
            <a:off x="6292850" y="2520553"/>
            <a:ext cx="1104900" cy="685800"/>
          </a:xfrm>
          <a:prstGeom prst="roundRect">
            <a:avLst>
              <a:gd name="adj" fmla="val 5556"/>
            </a:avLst>
          </a:prstGeom>
          <a:solidFill>
            <a:srgbClr val="E9C9BC"/>
          </a:solidFill>
          <a:ln/>
        </p:spPr>
      </p:sp>
      <p:sp>
        <p:nvSpPr>
          <p:cNvPr id="12" name="Shape 10"/>
          <p:cNvSpPr/>
          <p:nvPr/>
        </p:nvSpPr>
        <p:spPr>
          <a:xfrm>
            <a:off x="1568450" y="3282553"/>
            <a:ext cx="1104900" cy="685800"/>
          </a:xfrm>
          <a:prstGeom prst="roundRect">
            <a:avLst>
              <a:gd name="adj" fmla="val 5556"/>
            </a:avLst>
          </a:prstGeom>
          <a:solidFill>
            <a:srgbClr val="F7F1EA"/>
          </a:solidFill>
          <a:ln/>
        </p:spPr>
      </p:sp>
      <p:sp>
        <p:nvSpPr>
          <p:cNvPr id="13" name="Shape 11"/>
          <p:cNvSpPr/>
          <p:nvPr/>
        </p:nvSpPr>
        <p:spPr>
          <a:xfrm>
            <a:off x="2749550" y="3282553"/>
            <a:ext cx="1104900" cy="685800"/>
          </a:xfrm>
          <a:prstGeom prst="roundRect">
            <a:avLst>
              <a:gd name="adj" fmla="val 5556"/>
            </a:avLst>
          </a:prstGeom>
          <a:solidFill>
            <a:srgbClr val="F6E7CF"/>
          </a:solidFill>
          <a:ln/>
        </p:spPr>
      </p:sp>
      <p:sp>
        <p:nvSpPr>
          <p:cNvPr id="14" name="Text 12"/>
          <p:cNvSpPr/>
          <p:nvPr/>
        </p:nvSpPr>
        <p:spPr>
          <a:xfrm>
            <a:off x="2987675" y="3466703"/>
            <a:ext cx="361950" cy="355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8A6A3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R6</a:t>
            </a:r>
            <a:endParaRPr lang="en-US" sz="1875" dirty="0"/>
          </a:p>
        </p:txBody>
      </p:sp>
      <p:sp>
        <p:nvSpPr>
          <p:cNvPr id="15" name="Text 13"/>
          <p:cNvSpPr/>
          <p:nvPr/>
        </p:nvSpPr>
        <p:spPr>
          <a:xfrm>
            <a:off x="3330575" y="3466703"/>
            <a:ext cx="361950" cy="355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8A6A3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R7</a:t>
            </a:r>
            <a:endParaRPr lang="en-US" sz="1875" dirty="0"/>
          </a:p>
        </p:txBody>
      </p:sp>
      <p:sp>
        <p:nvSpPr>
          <p:cNvPr id="16" name="Shape 14"/>
          <p:cNvSpPr/>
          <p:nvPr/>
        </p:nvSpPr>
        <p:spPr>
          <a:xfrm>
            <a:off x="3930650" y="3282553"/>
            <a:ext cx="1104900" cy="685800"/>
          </a:xfrm>
          <a:prstGeom prst="roundRect">
            <a:avLst>
              <a:gd name="adj" fmla="val 5556"/>
            </a:avLst>
          </a:prstGeom>
          <a:solidFill>
            <a:srgbClr val="F1DAC9"/>
          </a:solidFill>
          <a:ln/>
        </p:spPr>
      </p:sp>
      <p:sp>
        <p:nvSpPr>
          <p:cNvPr id="17" name="Shape 15"/>
          <p:cNvSpPr/>
          <p:nvPr/>
        </p:nvSpPr>
        <p:spPr>
          <a:xfrm>
            <a:off x="5111750" y="3282553"/>
            <a:ext cx="1104900" cy="685800"/>
          </a:xfrm>
          <a:prstGeom prst="roundRect">
            <a:avLst>
              <a:gd name="adj" fmla="val 5556"/>
            </a:avLst>
          </a:prstGeom>
          <a:solidFill>
            <a:srgbClr val="ECCFC7"/>
          </a:solidFill>
          <a:ln/>
        </p:spPr>
      </p:sp>
      <p:sp>
        <p:nvSpPr>
          <p:cNvPr id="18" name="Text 16"/>
          <p:cNvSpPr/>
          <p:nvPr/>
        </p:nvSpPr>
        <p:spPr>
          <a:xfrm>
            <a:off x="5521325" y="3466703"/>
            <a:ext cx="361950" cy="355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8A2F1C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R4</a:t>
            </a:r>
            <a:endParaRPr lang="en-US" sz="1875" dirty="0"/>
          </a:p>
        </p:txBody>
      </p:sp>
      <p:sp>
        <p:nvSpPr>
          <p:cNvPr id="19" name="Shape 17"/>
          <p:cNvSpPr/>
          <p:nvPr/>
        </p:nvSpPr>
        <p:spPr>
          <a:xfrm>
            <a:off x="6292850" y="3282553"/>
            <a:ext cx="1104900" cy="685800"/>
          </a:xfrm>
          <a:prstGeom prst="roundRect">
            <a:avLst>
              <a:gd name="adj" fmla="val 5556"/>
            </a:avLst>
          </a:prstGeom>
          <a:solidFill>
            <a:srgbClr val="E9C9BC"/>
          </a:solidFill>
          <a:ln/>
        </p:spPr>
      </p:sp>
      <p:sp>
        <p:nvSpPr>
          <p:cNvPr id="20" name="Shape 18"/>
          <p:cNvSpPr/>
          <p:nvPr/>
        </p:nvSpPr>
        <p:spPr>
          <a:xfrm>
            <a:off x="1568450" y="4044553"/>
            <a:ext cx="1104900" cy="685800"/>
          </a:xfrm>
          <a:prstGeom prst="roundRect">
            <a:avLst>
              <a:gd name="adj" fmla="val 5556"/>
            </a:avLst>
          </a:prstGeom>
          <a:solidFill>
            <a:srgbClr val="EFF2EC"/>
          </a:solidFill>
          <a:ln/>
        </p:spPr>
      </p:sp>
      <p:sp>
        <p:nvSpPr>
          <p:cNvPr id="21" name="Shape 19"/>
          <p:cNvSpPr/>
          <p:nvPr/>
        </p:nvSpPr>
        <p:spPr>
          <a:xfrm>
            <a:off x="2749550" y="4044553"/>
            <a:ext cx="1104900" cy="685800"/>
          </a:xfrm>
          <a:prstGeom prst="roundRect">
            <a:avLst>
              <a:gd name="adj" fmla="val 5556"/>
            </a:avLst>
          </a:prstGeom>
          <a:solidFill>
            <a:srgbClr val="FBF4E2"/>
          </a:solidFill>
          <a:ln/>
        </p:spPr>
      </p:sp>
      <p:sp>
        <p:nvSpPr>
          <p:cNvPr id="22" name="Text 20"/>
          <p:cNvSpPr/>
          <p:nvPr/>
        </p:nvSpPr>
        <p:spPr>
          <a:xfrm>
            <a:off x="3159125" y="4228703"/>
            <a:ext cx="361950" cy="355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75695F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R8</a:t>
            </a:r>
            <a:endParaRPr lang="en-US" sz="1875" dirty="0"/>
          </a:p>
        </p:txBody>
      </p:sp>
      <p:sp>
        <p:nvSpPr>
          <p:cNvPr id="23" name="Shape 21"/>
          <p:cNvSpPr/>
          <p:nvPr/>
        </p:nvSpPr>
        <p:spPr>
          <a:xfrm>
            <a:off x="3930650" y="4044553"/>
            <a:ext cx="1104900" cy="685800"/>
          </a:xfrm>
          <a:prstGeom prst="roundRect">
            <a:avLst>
              <a:gd name="adj" fmla="val 5556"/>
            </a:avLst>
          </a:prstGeom>
          <a:solidFill>
            <a:srgbClr val="FBF4E2"/>
          </a:solidFill>
          <a:ln/>
        </p:spPr>
      </p:sp>
      <p:sp>
        <p:nvSpPr>
          <p:cNvPr id="24" name="Text 22"/>
          <p:cNvSpPr/>
          <p:nvPr/>
        </p:nvSpPr>
        <p:spPr>
          <a:xfrm>
            <a:off x="4340225" y="4228703"/>
            <a:ext cx="361950" cy="355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8A6A3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R5</a:t>
            </a:r>
            <a:endParaRPr lang="en-US" sz="1875" dirty="0"/>
          </a:p>
        </p:txBody>
      </p:sp>
      <p:sp>
        <p:nvSpPr>
          <p:cNvPr id="25" name="Shape 23"/>
          <p:cNvSpPr/>
          <p:nvPr/>
        </p:nvSpPr>
        <p:spPr>
          <a:xfrm>
            <a:off x="5111750" y="4044553"/>
            <a:ext cx="1104900" cy="685800"/>
          </a:xfrm>
          <a:prstGeom prst="roundRect">
            <a:avLst>
              <a:gd name="adj" fmla="val 5556"/>
            </a:avLst>
          </a:prstGeom>
          <a:solidFill>
            <a:srgbClr val="F6E7CF"/>
          </a:solidFill>
          <a:ln/>
        </p:spPr>
      </p:sp>
      <p:sp>
        <p:nvSpPr>
          <p:cNvPr id="26" name="Text 24"/>
          <p:cNvSpPr/>
          <p:nvPr/>
        </p:nvSpPr>
        <p:spPr>
          <a:xfrm>
            <a:off x="5521325" y="4228703"/>
            <a:ext cx="361950" cy="355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8A6A3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R2</a:t>
            </a:r>
            <a:endParaRPr lang="en-US" sz="1875" dirty="0"/>
          </a:p>
        </p:txBody>
      </p:sp>
      <p:sp>
        <p:nvSpPr>
          <p:cNvPr id="27" name="Shape 25"/>
          <p:cNvSpPr/>
          <p:nvPr/>
        </p:nvSpPr>
        <p:spPr>
          <a:xfrm>
            <a:off x="6292850" y="4044553"/>
            <a:ext cx="1104900" cy="685800"/>
          </a:xfrm>
          <a:prstGeom prst="roundRect">
            <a:avLst>
              <a:gd name="adj" fmla="val 5556"/>
            </a:avLst>
          </a:prstGeom>
          <a:solidFill>
            <a:srgbClr val="F1DAC9"/>
          </a:solidFill>
          <a:ln/>
        </p:spPr>
      </p:sp>
      <p:sp>
        <p:nvSpPr>
          <p:cNvPr id="28" name="Shape 26"/>
          <p:cNvSpPr/>
          <p:nvPr/>
        </p:nvSpPr>
        <p:spPr>
          <a:xfrm>
            <a:off x="1568450" y="4806553"/>
            <a:ext cx="1104900" cy="685800"/>
          </a:xfrm>
          <a:prstGeom prst="roundRect">
            <a:avLst>
              <a:gd name="adj" fmla="val 5556"/>
            </a:avLst>
          </a:prstGeom>
          <a:solidFill>
            <a:srgbClr val="EFF2EC"/>
          </a:solidFill>
          <a:ln/>
        </p:spPr>
      </p:sp>
      <p:sp>
        <p:nvSpPr>
          <p:cNvPr id="29" name="Shape 27"/>
          <p:cNvSpPr/>
          <p:nvPr/>
        </p:nvSpPr>
        <p:spPr>
          <a:xfrm>
            <a:off x="2749550" y="4806553"/>
            <a:ext cx="1104900" cy="685800"/>
          </a:xfrm>
          <a:prstGeom prst="roundRect">
            <a:avLst>
              <a:gd name="adj" fmla="val 5556"/>
            </a:avLst>
          </a:prstGeom>
          <a:solidFill>
            <a:srgbClr val="EFF2EC"/>
          </a:solidFill>
          <a:ln/>
        </p:spPr>
      </p:sp>
      <p:sp>
        <p:nvSpPr>
          <p:cNvPr id="30" name="Shape 28"/>
          <p:cNvSpPr/>
          <p:nvPr/>
        </p:nvSpPr>
        <p:spPr>
          <a:xfrm>
            <a:off x="3930650" y="4806553"/>
            <a:ext cx="1104900" cy="685800"/>
          </a:xfrm>
          <a:prstGeom prst="roundRect">
            <a:avLst>
              <a:gd name="adj" fmla="val 5556"/>
            </a:avLst>
          </a:prstGeom>
          <a:solidFill>
            <a:srgbClr val="FBF4E2"/>
          </a:solidFill>
          <a:ln/>
        </p:spPr>
      </p:sp>
      <p:sp>
        <p:nvSpPr>
          <p:cNvPr id="31" name="Shape 29"/>
          <p:cNvSpPr/>
          <p:nvPr/>
        </p:nvSpPr>
        <p:spPr>
          <a:xfrm>
            <a:off x="5111750" y="4806553"/>
            <a:ext cx="1104900" cy="685800"/>
          </a:xfrm>
          <a:prstGeom prst="roundRect">
            <a:avLst>
              <a:gd name="adj" fmla="val 5556"/>
            </a:avLst>
          </a:prstGeom>
          <a:solidFill>
            <a:srgbClr val="FBF4E2"/>
          </a:solidFill>
          <a:ln/>
        </p:spPr>
      </p:sp>
      <p:sp>
        <p:nvSpPr>
          <p:cNvPr id="32" name="Text 30"/>
          <p:cNvSpPr/>
          <p:nvPr/>
        </p:nvSpPr>
        <p:spPr>
          <a:xfrm>
            <a:off x="5521325" y="4990704"/>
            <a:ext cx="361950" cy="355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8A6A3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R3</a:t>
            </a:r>
            <a:endParaRPr lang="en-US" sz="1875" dirty="0"/>
          </a:p>
        </p:txBody>
      </p:sp>
      <p:sp>
        <p:nvSpPr>
          <p:cNvPr id="33" name="Shape 31"/>
          <p:cNvSpPr/>
          <p:nvPr/>
        </p:nvSpPr>
        <p:spPr>
          <a:xfrm>
            <a:off x="6292850" y="4806553"/>
            <a:ext cx="1104900" cy="685800"/>
          </a:xfrm>
          <a:prstGeom prst="roundRect">
            <a:avLst>
              <a:gd name="adj" fmla="val 5556"/>
            </a:avLst>
          </a:prstGeom>
          <a:solidFill>
            <a:srgbClr val="F6E7CF"/>
          </a:solidFill>
          <a:ln/>
        </p:spPr>
      </p:sp>
      <p:sp>
        <p:nvSpPr>
          <p:cNvPr id="34" name="Shape 32"/>
          <p:cNvSpPr/>
          <p:nvPr/>
        </p:nvSpPr>
        <p:spPr>
          <a:xfrm>
            <a:off x="1568450" y="5568553"/>
            <a:ext cx="1104900" cy="685800"/>
          </a:xfrm>
          <a:prstGeom prst="roundRect">
            <a:avLst>
              <a:gd name="adj" fmla="val 5556"/>
            </a:avLst>
          </a:prstGeom>
          <a:solidFill>
            <a:srgbClr val="EFF2EC"/>
          </a:solidFill>
          <a:ln/>
        </p:spPr>
      </p:sp>
      <p:sp>
        <p:nvSpPr>
          <p:cNvPr id="35" name="Shape 33"/>
          <p:cNvSpPr/>
          <p:nvPr/>
        </p:nvSpPr>
        <p:spPr>
          <a:xfrm>
            <a:off x="2749550" y="5568553"/>
            <a:ext cx="1104900" cy="685800"/>
          </a:xfrm>
          <a:prstGeom prst="roundRect">
            <a:avLst>
              <a:gd name="adj" fmla="val 5556"/>
            </a:avLst>
          </a:prstGeom>
          <a:solidFill>
            <a:srgbClr val="EFF2EC"/>
          </a:solidFill>
          <a:ln/>
        </p:spPr>
      </p:sp>
      <p:sp>
        <p:nvSpPr>
          <p:cNvPr id="36" name="Shape 34"/>
          <p:cNvSpPr/>
          <p:nvPr/>
        </p:nvSpPr>
        <p:spPr>
          <a:xfrm>
            <a:off x="3930650" y="5568553"/>
            <a:ext cx="1104900" cy="685800"/>
          </a:xfrm>
          <a:prstGeom prst="roundRect">
            <a:avLst>
              <a:gd name="adj" fmla="val 5556"/>
            </a:avLst>
          </a:prstGeom>
          <a:solidFill>
            <a:srgbClr val="EFF2EC"/>
          </a:solidFill>
          <a:ln/>
        </p:spPr>
      </p:sp>
      <p:sp>
        <p:nvSpPr>
          <p:cNvPr id="37" name="Shape 35"/>
          <p:cNvSpPr/>
          <p:nvPr/>
        </p:nvSpPr>
        <p:spPr>
          <a:xfrm>
            <a:off x="5111750" y="5568553"/>
            <a:ext cx="1104900" cy="685800"/>
          </a:xfrm>
          <a:prstGeom prst="roundRect">
            <a:avLst>
              <a:gd name="adj" fmla="val 5556"/>
            </a:avLst>
          </a:prstGeom>
          <a:solidFill>
            <a:srgbClr val="EFF2EC"/>
          </a:solidFill>
          <a:ln/>
        </p:spPr>
      </p:sp>
      <p:sp>
        <p:nvSpPr>
          <p:cNvPr id="38" name="Shape 36"/>
          <p:cNvSpPr/>
          <p:nvPr/>
        </p:nvSpPr>
        <p:spPr>
          <a:xfrm>
            <a:off x="6292850" y="5568553"/>
            <a:ext cx="1104900" cy="685800"/>
          </a:xfrm>
          <a:prstGeom prst="roundRect">
            <a:avLst>
              <a:gd name="adj" fmla="val 5556"/>
            </a:avLst>
          </a:prstGeom>
          <a:solidFill>
            <a:srgbClr val="FBF4E2"/>
          </a:solidFill>
          <a:ln/>
        </p:spPr>
      </p:sp>
      <p:sp>
        <p:nvSpPr>
          <p:cNvPr id="39" name="Text 37"/>
          <p:cNvSpPr/>
          <p:nvPr/>
        </p:nvSpPr>
        <p:spPr>
          <a:xfrm>
            <a:off x="1530350" y="6368653"/>
            <a:ext cx="1181100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2711450" y="6368653"/>
            <a:ext cx="1181100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2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3892550" y="6368653"/>
            <a:ext cx="1181100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5073650" y="6368653"/>
            <a:ext cx="1181100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4</a:t>
            </a:r>
            <a:endParaRPr lang="en-US" sz="1800" dirty="0"/>
          </a:p>
        </p:txBody>
      </p:sp>
      <p:sp>
        <p:nvSpPr>
          <p:cNvPr id="43" name="Text 41"/>
          <p:cNvSpPr/>
          <p:nvPr/>
        </p:nvSpPr>
        <p:spPr>
          <a:xfrm>
            <a:off x="6254750" y="6368653"/>
            <a:ext cx="1181100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5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276985" y="6813153"/>
            <a:ext cx="6412230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buNone/>
            </a:pPr>
            <a:r>
              <a:rPr lang="en-US" sz="1800" spc="252" kern="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LIKELIHOOD →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7931150" y="3510558"/>
            <a:ext cx="9213850" cy="1208881"/>
          </a:xfrm>
          <a:prstGeom prst="roundRect">
            <a:avLst>
              <a:gd name="adj" fmla="val 6303"/>
            </a:avLst>
          </a:prstGeom>
          <a:solidFill>
            <a:srgbClr val="F6E5DE"/>
          </a:solidFill>
          <a:ln w="12700">
            <a:solidFill>
              <a:srgbClr val="ECCFC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10550" y="3751858"/>
            <a:ext cx="4231819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R4 · Low adoption / distribution</a:t>
            </a:r>
            <a:endParaRPr lang="en-US" sz="2025" dirty="0"/>
          </a:p>
        </p:txBody>
      </p:sp>
      <p:sp>
        <p:nvSpPr>
          <p:cNvPr id="47" name="Text 45"/>
          <p:cNvSpPr/>
          <p:nvPr/>
        </p:nvSpPr>
        <p:spPr>
          <a:xfrm>
            <a:off x="16568341" y="3751858"/>
            <a:ext cx="373459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B5462E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16</a:t>
            </a:r>
            <a:endParaRPr lang="en-US" sz="1950" dirty="0"/>
          </a:p>
        </p:txBody>
      </p:sp>
      <p:sp>
        <p:nvSpPr>
          <p:cNvPr id="48" name="Text 46"/>
          <p:cNvSpPr/>
          <p:nvPr/>
        </p:nvSpPr>
        <p:spPr>
          <a:xfrm>
            <a:off x="8210550" y="4158258"/>
            <a:ext cx="9520555" cy="3579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No-process-change design + a channel (association / Träger) is the make-or-break.</a:t>
            </a:r>
            <a:endParaRPr lang="en-US" sz="1800" dirty="0"/>
          </a:p>
        </p:txBody>
      </p:sp>
      <p:sp>
        <p:nvSpPr>
          <p:cNvPr id="49" name="Shape 47"/>
          <p:cNvSpPr/>
          <p:nvPr/>
        </p:nvSpPr>
        <p:spPr>
          <a:xfrm>
            <a:off x="7931150" y="4890889"/>
            <a:ext cx="9213850" cy="1528763"/>
          </a:xfrm>
          <a:prstGeom prst="roundRect">
            <a:avLst>
              <a:gd name="adj" fmla="val 4984"/>
            </a:avLst>
          </a:prstGeom>
          <a:solidFill>
            <a:srgbClr val="F6E5DE"/>
          </a:solidFill>
          <a:ln w="12700">
            <a:solidFill>
              <a:srgbClr val="ECCFC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210550" y="5132189"/>
            <a:ext cx="2723495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R1 · PII leak to the AI</a:t>
            </a:r>
            <a:endParaRPr lang="en-US" sz="2025" dirty="0"/>
          </a:p>
        </p:txBody>
      </p:sp>
      <p:sp>
        <p:nvSpPr>
          <p:cNvPr id="51" name="Text 49"/>
          <p:cNvSpPr/>
          <p:nvPr/>
        </p:nvSpPr>
        <p:spPr>
          <a:xfrm>
            <a:off x="16568341" y="5132189"/>
            <a:ext cx="373459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B5462E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15</a:t>
            </a:r>
            <a:endParaRPr lang="en-US" sz="1950" dirty="0"/>
          </a:p>
        </p:txBody>
      </p:sp>
      <p:sp>
        <p:nvSpPr>
          <p:cNvPr id="52" name="Text 50"/>
          <p:cNvSpPr/>
          <p:nvPr/>
        </p:nvSpPr>
        <p:spPr>
          <a:xfrm>
            <a:off x="8210550" y="5538589"/>
            <a:ext cx="8914702" cy="677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Local fail-closed redaction + DB column REVOKE + double-gated consent — the core thesis.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7931150" y="6591102"/>
            <a:ext cx="9213850" cy="1208881"/>
          </a:xfrm>
          <a:prstGeom prst="roundRect">
            <a:avLst>
              <a:gd name="adj" fmla="val 6303"/>
            </a:avLst>
          </a:prstGeom>
          <a:solidFill>
            <a:srgbClr val="FAF1D7"/>
          </a:solidFill>
          <a:ln w="12700">
            <a:solidFill>
              <a:srgbClr val="F3E4B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210550" y="6832402"/>
            <a:ext cx="2950944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R2 · LLM hallucination</a:t>
            </a:r>
            <a:endParaRPr lang="en-US" sz="2025" dirty="0"/>
          </a:p>
        </p:txBody>
      </p:sp>
      <p:sp>
        <p:nvSpPr>
          <p:cNvPr id="55" name="Text 53"/>
          <p:cNvSpPr/>
          <p:nvPr/>
        </p:nvSpPr>
        <p:spPr>
          <a:xfrm>
            <a:off x="16568341" y="6832402"/>
            <a:ext cx="373459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dirty="0">
                <a:solidFill>
                  <a:srgbClr val="8A6A32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12</a:t>
            </a:r>
            <a:endParaRPr lang="en-US" sz="1950" dirty="0"/>
          </a:p>
        </p:txBody>
      </p:sp>
      <p:sp>
        <p:nvSpPr>
          <p:cNvPr id="56" name="Text 54"/>
          <p:cNvSpPr/>
          <p:nvPr/>
        </p:nvSpPr>
        <p:spPr>
          <a:xfrm>
            <a:off x="8210550" y="7238802"/>
            <a:ext cx="9520555" cy="3579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Schema-validate + manual fallback + admin confirms every publish.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7969250" y="7971433"/>
            <a:ext cx="9414066" cy="677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0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R3 over-redaction · R5 infra failure · R6 surveillance creep · R7 AI-Act misclassification · R8 LLM residency — all scored ≤ 9, each degrades to a safe manual path.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2126853"/>
            <a:ext cx="16002000" cy="12700"/>
          </a:xfrm>
          <a:prstGeom prst="rect">
            <a:avLst/>
          </a:prstGeom>
          <a:solidFill>
            <a:srgbClr val="C9BFA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800100"/>
            <a:ext cx="17602200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COMPLIANCE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" y="1225550"/>
            <a:ext cx="17602200" cy="6917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950" spc="-99" kern="0" dirty="0">
                <a:solidFill>
                  <a:srgbClr val="16141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EU AI Act + GDPR</a:t>
            </a:r>
            <a:endParaRPr lang="en-US" sz="4950" dirty="0"/>
          </a:p>
        </p:txBody>
      </p:sp>
      <p:sp>
        <p:nvSpPr>
          <p:cNvPr id="5" name="Shape 3"/>
          <p:cNvSpPr/>
          <p:nvPr/>
        </p:nvSpPr>
        <p:spPr>
          <a:xfrm>
            <a:off x="1143000" y="2539603"/>
            <a:ext cx="7848600" cy="6483747"/>
          </a:xfrm>
          <a:prstGeom prst="roundRect">
            <a:avLst>
              <a:gd name="adj" fmla="val 1175"/>
            </a:avLst>
          </a:prstGeom>
          <a:solidFill>
            <a:srgbClr val="FFFEFB"/>
          </a:solidFill>
          <a:ln w="12700">
            <a:solidFill>
              <a:srgbClr val="E5DD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17650" y="2930128"/>
            <a:ext cx="1391543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EU AI Act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6642299" y="2914253"/>
            <a:ext cx="1974652" cy="450850"/>
          </a:xfrm>
          <a:prstGeom prst="roundRect">
            <a:avLst>
              <a:gd name="adj" fmla="val 8451"/>
            </a:avLst>
          </a:prstGeom>
          <a:solidFill>
            <a:srgbClr val="DCE8DF"/>
          </a:solidFill>
          <a:ln/>
        </p:spPr>
      </p:sp>
      <p:sp>
        <p:nvSpPr>
          <p:cNvPr id="8" name="Text 6"/>
          <p:cNvSpPr/>
          <p:nvPr/>
        </p:nvSpPr>
        <p:spPr>
          <a:xfrm>
            <a:off x="6813749" y="2980928"/>
            <a:ext cx="1707952" cy="355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spc="75" kern="0" dirty="0">
                <a:solidFill>
                  <a:srgbClr val="3D7A5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LIMITED RISK</a:t>
            </a:r>
            <a:endParaRPr lang="en-US" sz="1875" dirty="0"/>
          </a:p>
        </p:txBody>
      </p:sp>
      <p:sp>
        <p:nvSpPr>
          <p:cNvPr id="9" name="Shape 7"/>
          <p:cNvSpPr/>
          <p:nvPr/>
        </p:nvSpPr>
        <p:spPr>
          <a:xfrm>
            <a:off x="1517650" y="3593703"/>
            <a:ext cx="7099300" cy="1217613"/>
          </a:xfrm>
          <a:prstGeom prst="roundRect">
            <a:avLst>
              <a:gd name="adj" fmla="val 4694"/>
            </a:avLst>
          </a:prstGeom>
          <a:solidFill>
            <a:srgbClr val="F7EFDE"/>
          </a:solidFill>
          <a:ln w="12700">
            <a:solidFill>
              <a:srgbClr val="E9DA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78000" y="3815953"/>
            <a:ext cx="6791579" cy="8112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161413"/>
                </a:solidFill>
                <a:highlight>
                  <a:srgbClr val="F7EFDE"/>
                </a:highlight>
                <a:latin typeface="Geist" pitchFamily="34" charset="0"/>
                <a:ea typeface="Geist" pitchFamily="34" charset="-122"/>
                <a:cs typeface="Geist" pitchFamily="34" charset="-120"/>
              </a:rPr>
              <a:t>Makes </a:t>
            </a:r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8F5C12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 decision about a person </a:t>
            </a:r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161413"/>
                </a:solidFill>
                <a:highlight>
                  <a:srgbClr val="F7EFDE"/>
                </a:highlight>
                <a:latin typeface="Geist" pitchFamily="34" charset="0"/>
                <a:ea typeface="Geist" pitchFamily="34" charset="-122"/>
                <a:cs typeface="Geist" pitchFamily="34" charset="-120"/>
              </a:rPr>
              <a:t>— it classifies a notice, not a learner. No Annex III area.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517650" y="5039916"/>
            <a:ext cx="254595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b="1" dirty="0">
                <a:solidFill>
                  <a:srgbClr val="3D7A5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✓</a:t>
            </a:r>
            <a:endParaRPr lang="en-US" sz="1875" dirty="0"/>
          </a:p>
        </p:txBody>
      </p:sp>
      <p:sp>
        <p:nvSpPr>
          <p:cNvPr id="12" name="Text 10"/>
          <p:cNvSpPr/>
          <p:nvPr/>
        </p:nvSpPr>
        <p:spPr>
          <a:xfrm>
            <a:off x="1829395" y="5039916"/>
            <a:ext cx="6190379" cy="6889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100% of posts need explicit admin confirmation (human oversight).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1517650" y="5859066"/>
            <a:ext cx="254595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b="1" dirty="0">
                <a:solidFill>
                  <a:srgbClr val="3D7A5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✓</a:t>
            </a:r>
            <a:endParaRPr lang="en-US" sz="1875" dirty="0"/>
          </a:p>
        </p:txBody>
      </p:sp>
      <p:sp>
        <p:nvSpPr>
          <p:cNvPr id="14" name="Text 12"/>
          <p:cNvSpPr/>
          <p:nvPr/>
        </p:nvSpPr>
        <p:spPr>
          <a:xfrm>
            <a:off x="1829395" y="5859066"/>
            <a:ext cx="5594989" cy="6889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AI suggestions are labelled before confirm (Art. 50 transparency).</a:t>
            </a:r>
            <a:endParaRPr lang="en-US" sz="1875" dirty="0"/>
          </a:p>
        </p:txBody>
      </p:sp>
      <p:sp>
        <p:nvSpPr>
          <p:cNvPr id="15" name="Text 13"/>
          <p:cNvSpPr/>
          <p:nvPr/>
        </p:nvSpPr>
        <p:spPr>
          <a:xfrm>
            <a:off x="1517650" y="6678216"/>
            <a:ext cx="254595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b="1" dirty="0">
                <a:solidFill>
                  <a:srgbClr val="3D7A5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✓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1829395" y="6678216"/>
            <a:ext cx="5576185" cy="6889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Schema-validated, fail-closed, with a manual path (robustness).</a:t>
            </a:r>
            <a:endParaRPr lang="en-US" sz="1875" dirty="0"/>
          </a:p>
        </p:txBody>
      </p:sp>
      <p:sp>
        <p:nvSpPr>
          <p:cNvPr id="17" name="Shape 15"/>
          <p:cNvSpPr/>
          <p:nvPr/>
        </p:nvSpPr>
        <p:spPr>
          <a:xfrm>
            <a:off x="9296400" y="2539603"/>
            <a:ext cx="7848600" cy="6483747"/>
          </a:xfrm>
          <a:prstGeom prst="roundRect">
            <a:avLst>
              <a:gd name="adj" fmla="val 1175"/>
            </a:avLst>
          </a:prstGeom>
          <a:solidFill>
            <a:srgbClr val="FFFEFB"/>
          </a:solidFill>
          <a:ln w="12700">
            <a:solidFill>
              <a:srgbClr val="E5DD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71050" y="2930128"/>
            <a:ext cx="869553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GDPR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13845183" y="2914253"/>
            <a:ext cx="2925167" cy="450850"/>
          </a:xfrm>
          <a:prstGeom prst="roundRect">
            <a:avLst>
              <a:gd name="adj" fmla="val 8451"/>
            </a:avLst>
          </a:prstGeom>
          <a:solidFill>
            <a:srgbClr val="DCE8DF"/>
          </a:solidFill>
          <a:ln/>
        </p:spPr>
      </p:sp>
      <p:sp>
        <p:nvSpPr>
          <p:cNvPr id="20" name="Text 18"/>
          <p:cNvSpPr/>
          <p:nvPr/>
        </p:nvSpPr>
        <p:spPr>
          <a:xfrm>
            <a:off x="14016633" y="2980928"/>
            <a:ext cx="2670022" cy="355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75" b="1" spc="75" kern="0" dirty="0">
                <a:solidFill>
                  <a:srgbClr val="3D7A5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RESIDUAL LOW–MED</a:t>
            </a:r>
            <a:endParaRPr lang="en-US" sz="1875" dirty="0"/>
          </a:p>
        </p:txBody>
      </p:sp>
      <p:sp>
        <p:nvSpPr>
          <p:cNvPr id="21" name="Shape 19"/>
          <p:cNvSpPr/>
          <p:nvPr/>
        </p:nvSpPr>
        <p:spPr>
          <a:xfrm>
            <a:off x="9671050" y="3593703"/>
            <a:ext cx="7099300" cy="1217613"/>
          </a:xfrm>
          <a:prstGeom prst="roundRect">
            <a:avLst>
              <a:gd name="adj" fmla="val 4694"/>
            </a:avLst>
          </a:prstGeom>
          <a:solidFill>
            <a:srgbClr val="F7EFDE"/>
          </a:solidFill>
          <a:ln w="12700">
            <a:solidFill>
              <a:srgbClr val="E9DA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931400" y="3815953"/>
            <a:ext cx="6791579" cy="8112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161413"/>
                </a:solidFill>
                <a:highlight>
                  <a:srgbClr val="F7EFDE"/>
                </a:highlight>
                <a:latin typeface="Geist" pitchFamily="34" charset="0"/>
                <a:ea typeface="Geist" pitchFamily="34" charset="-122"/>
                <a:cs typeface="Geist" pitchFamily="34" charset="-120"/>
              </a:rPr>
              <a:t>Only </a:t>
            </a:r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8F5C12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locally-redacted text </a:t>
            </a:r>
            <a:pPr algn="l" indent="0" marL="0">
              <a:lnSpc>
                <a:spcPct val="145000"/>
              </a:lnSpc>
              <a:buNone/>
            </a:pPr>
            <a:r>
              <a:rPr lang="en-US" sz="2100" dirty="0">
                <a:solidFill>
                  <a:srgbClr val="161413"/>
                </a:solidFill>
                <a:highlight>
                  <a:srgbClr val="F7EFDE"/>
                </a:highlight>
                <a:latin typeface="Geist" pitchFamily="34" charset="0"/>
                <a:ea typeface="Geist" pitchFamily="34" charset="-122"/>
                <a:cs typeface="Geist" pitchFamily="34" charset="-120"/>
              </a:rPr>
              <a:t>reaches the AI — no PII, no raw image.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671050" y="5039916"/>
            <a:ext cx="2545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b="1" dirty="0">
                <a:solidFill>
                  <a:srgbClr val="3D7A5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✓</a:t>
            </a:r>
            <a:endParaRPr lang="en-US" sz="1875" dirty="0"/>
          </a:p>
        </p:txBody>
      </p:sp>
      <p:sp>
        <p:nvSpPr>
          <p:cNvPr id="24" name="Text 22"/>
          <p:cNvSpPr/>
          <p:nvPr/>
        </p:nvSpPr>
        <p:spPr>
          <a:xfrm>
            <a:off x="9982795" y="5039916"/>
            <a:ext cx="5840259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Raw photos stay in EU infrastructure (Supabase EU).</a:t>
            </a:r>
            <a:endParaRPr lang="en-US" sz="1875" dirty="0"/>
          </a:p>
        </p:txBody>
      </p:sp>
      <p:sp>
        <p:nvSpPr>
          <p:cNvPr id="25" name="Text 23"/>
          <p:cNvSpPr/>
          <p:nvPr/>
        </p:nvSpPr>
        <p:spPr>
          <a:xfrm>
            <a:off x="9671050" y="5525691"/>
            <a:ext cx="2545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b="1" dirty="0">
                <a:solidFill>
                  <a:srgbClr val="3D7A5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✓</a:t>
            </a:r>
            <a:endParaRPr lang="en-US" sz="1875" dirty="0"/>
          </a:p>
        </p:txBody>
      </p:sp>
      <p:sp>
        <p:nvSpPr>
          <p:cNvPr id="26" name="Text 24"/>
          <p:cNvSpPr/>
          <p:nvPr/>
        </p:nvSpPr>
        <p:spPr>
          <a:xfrm>
            <a:off x="9982795" y="5525691"/>
            <a:ext cx="4892498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DPIA completed on the highest-risk activity.</a:t>
            </a:r>
            <a:endParaRPr lang="en-US" sz="1875" dirty="0"/>
          </a:p>
        </p:txBody>
      </p:sp>
      <p:sp>
        <p:nvSpPr>
          <p:cNvPr id="27" name="Text 25"/>
          <p:cNvSpPr/>
          <p:nvPr/>
        </p:nvSpPr>
        <p:spPr>
          <a:xfrm>
            <a:off x="9671050" y="6011466"/>
            <a:ext cx="254595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b="1" dirty="0">
                <a:solidFill>
                  <a:srgbClr val="3D7A5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✓</a:t>
            </a:r>
            <a:endParaRPr lang="en-US" sz="1875" dirty="0"/>
          </a:p>
        </p:txBody>
      </p:sp>
      <p:sp>
        <p:nvSpPr>
          <p:cNvPr id="28" name="Text 26"/>
          <p:cNvSpPr/>
          <p:nvPr/>
        </p:nvSpPr>
        <p:spPr>
          <a:xfrm>
            <a:off x="9982795" y="6011466"/>
            <a:ext cx="672159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Data-subject rights: access, erasure, rectification, portability.</a:t>
            </a:r>
            <a:endParaRPr lang="en-US" sz="1875" dirty="0"/>
          </a:p>
        </p:txBody>
      </p:sp>
      <p:sp>
        <p:nvSpPr>
          <p:cNvPr id="29" name="Text 27"/>
          <p:cNvSpPr/>
          <p:nvPr/>
        </p:nvSpPr>
        <p:spPr>
          <a:xfrm>
            <a:off x="1143000" y="9309100"/>
            <a:ext cx="17602200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Open before scale model card · redaction-recall metric · retention schedule · AI-incident runbook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2126853"/>
            <a:ext cx="16002000" cy="12700"/>
          </a:xfrm>
          <a:prstGeom prst="rect">
            <a:avLst/>
          </a:prstGeom>
          <a:solidFill>
            <a:srgbClr val="C9BFA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800100"/>
            <a:ext cx="17602200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STRATEGY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43000" y="1225550"/>
            <a:ext cx="17602200" cy="69175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950" spc="-99" kern="0" dirty="0">
                <a:solidFill>
                  <a:srgbClr val="161413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Roadmap and go-to-market</a:t>
            </a:r>
            <a:endParaRPr lang="en-US" sz="4950" dirty="0"/>
          </a:p>
        </p:txBody>
      </p:sp>
      <p:sp>
        <p:nvSpPr>
          <p:cNvPr id="5" name="Shape 3"/>
          <p:cNvSpPr/>
          <p:nvPr/>
        </p:nvSpPr>
        <p:spPr>
          <a:xfrm>
            <a:off x="1143000" y="2520553"/>
            <a:ext cx="2865041" cy="1511300"/>
          </a:xfrm>
          <a:prstGeom prst="roundRect">
            <a:avLst>
              <a:gd name="adj" fmla="val 5042"/>
            </a:avLst>
          </a:prstGeom>
          <a:solidFill>
            <a:srgbClr val="EEF3EE"/>
          </a:solidFill>
          <a:ln w="12700">
            <a:solidFill>
              <a:srgbClr val="DCE8D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84300" y="2742803"/>
            <a:ext cx="2620685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D7A5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Done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84300" y="3111103"/>
            <a:ext cx="2620685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Build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1384300" y="3517503"/>
            <a:ext cx="2620685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Full stack + pipeline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065191" y="3079353"/>
            <a:ext cx="381000" cy="431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B0721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427141" y="2520553"/>
            <a:ext cx="2865239" cy="1511300"/>
          </a:xfrm>
          <a:prstGeom prst="roundRect">
            <a:avLst>
              <a:gd name="adj" fmla="val 5042"/>
            </a:avLst>
          </a:prstGeom>
          <a:solidFill>
            <a:srgbClr val="EEF3EE"/>
          </a:solidFill>
          <a:ln w="12700">
            <a:solidFill>
              <a:srgbClr val="DCE8D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8441" y="2742803"/>
            <a:ext cx="2620903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3D7A5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Done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68441" y="3111103"/>
            <a:ext cx="2620903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POC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4668441" y="3517503"/>
            <a:ext cx="2620903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4 n8n workflows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349530" y="3079353"/>
            <a:ext cx="381000" cy="431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B0721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7711480" y="2520553"/>
            <a:ext cx="2865041" cy="1511300"/>
          </a:xfrm>
          <a:prstGeom prst="roundRect">
            <a:avLst>
              <a:gd name="adj" fmla="val 5042"/>
            </a:avLst>
          </a:prstGeom>
          <a:solidFill>
            <a:srgbClr val="F7EFDE"/>
          </a:solidFill>
          <a:ln w="12700">
            <a:solidFill>
              <a:srgbClr val="E9DA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952780" y="2742803"/>
            <a:ext cx="2620685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F5C12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Live now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952780" y="3111103"/>
            <a:ext cx="2620685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Pilot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7952780" y="3517503"/>
            <a:ext cx="2620685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8A6A32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One real Kita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633671" y="3079353"/>
            <a:ext cx="381000" cy="431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B0721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10995621" y="2520553"/>
            <a:ext cx="2865239" cy="1511300"/>
          </a:xfrm>
          <a:prstGeom prst="roundRect">
            <a:avLst>
              <a:gd name="adj" fmla="val 5042"/>
            </a:avLst>
          </a:prstGeom>
          <a:solidFill>
            <a:srgbClr val="FFFEFB"/>
          </a:solidFill>
          <a:ln w="12700">
            <a:solidFill>
              <a:srgbClr val="E5DDD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236921" y="2742803"/>
            <a:ext cx="2620903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 progress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1236921" y="3111103"/>
            <a:ext cx="2620903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Hardening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11236921" y="3517503"/>
            <a:ext cx="2620903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TLS · Google Play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3918010" y="3079353"/>
            <a:ext cx="381000" cy="431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400" dirty="0">
                <a:solidFill>
                  <a:srgbClr val="B07219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→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14279960" y="2520553"/>
            <a:ext cx="2865041" cy="1511300"/>
          </a:xfrm>
          <a:prstGeom prst="roundRect">
            <a:avLst>
              <a:gd name="adj" fmla="val 5042"/>
            </a:avLst>
          </a:prstGeom>
          <a:solidFill>
            <a:srgbClr val="FFFEFB"/>
          </a:solidFill>
          <a:ln w="12700">
            <a:solidFill>
              <a:srgbClr val="E5DDD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4521260" y="2742803"/>
            <a:ext cx="2620685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Planned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4521260" y="3111103"/>
            <a:ext cx="2620685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Channel scale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4521260" y="3517503"/>
            <a:ext cx="2620685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One sale = many orgs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143000" y="4596011"/>
            <a:ext cx="1849934" cy="3302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APP STORES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3053358" y="4260453"/>
            <a:ext cx="6969522" cy="963216"/>
          </a:xfrm>
          <a:prstGeom prst="roundRect">
            <a:avLst>
              <a:gd name="adj" fmla="val 7911"/>
            </a:avLst>
          </a:prstGeom>
          <a:solidFill>
            <a:srgbClr val="FFFEFB"/>
          </a:solidFill>
          <a:ln w="12700">
            <a:solidFill>
              <a:srgbClr val="E5DDD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75608" y="4542036"/>
            <a:ext cx="400050" cy="400050"/>
          </a:xfrm>
          <a:prstGeom prst="roundRect">
            <a:avLst>
              <a:gd name="adj" fmla="val 19048"/>
            </a:avLst>
          </a:prstGeom>
          <a:solidFill>
            <a:srgbClr val="161413"/>
          </a:solidFill>
          <a:ln/>
        </p:spPr>
      </p:sp>
      <p:sp>
        <p:nvSpPr>
          <p:cNvPr id="32" name="Text 30"/>
          <p:cNvSpPr/>
          <p:nvPr/>
        </p:nvSpPr>
        <p:spPr>
          <a:xfrm>
            <a:off x="3269853" y="4596011"/>
            <a:ext cx="487759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9DAB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1st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3847108" y="4425553"/>
            <a:ext cx="3150453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Google Play</a:t>
            </a:r>
            <a:endParaRPr lang="en-US" sz="1950" dirty="0"/>
          </a:p>
        </p:txBody>
      </p:sp>
      <p:sp>
        <p:nvSpPr>
          <p:cNvPr id="34" name="Text 32"/>
          <p:cNvSpPr/>
          <p:nvPr/>
        </p:nvSpPr>
        <p:spPr>
          <a:xfrm>
            <a:off x="3847108" y="4784328"/>
            <a:ext cx="3150453" cy="312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Closed test → public listing</a:t>
            </a:r>
            <a:endParaRPr lang="en-US" sz="1800" dirty="0"/>
          </a:p>
        </p:txBody>
      </p:sp>
      <p:sp>
        <p:nvSpPr>
          <p:cNvPr id="35" name="Text 33"/>
          <p:cNvSpPr/>
          <p:nvPr/>
        </p:nvSpPr>
        <p:spPr>
          <a:xfrm>
            <a:off x="8572500" y="4596011"/>
            <a:ext cx="1350943" cy="3302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A32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In progress</a:t>
            </a:r>
            <a:endParaRPr lang="en-US" sz="1800" dirty="0"/>
          </a:p>
        </p:txBody>
      </p:sp>
      <p:sp>
        <p:nvSpPr>
          <p:cNvPr id="36" name="Shape 34"/>
          <p:cNvSpPr/>
          <p:nvPr/>
        </p:nvSpPr>
        <p:spPr>
          <a:xfrm>
            <a:off x="10175280" y="4260453"/>
            <a:ext cx="6969721" cy="963216"/>
          </a:xfrm>
          <a:prstGeom prst="roundRect">
            <a:avLst>
              <a:gd name="adj" fmla="val 7911"/>
            </a:avLst>
          </a:prstGeom>
          <a:solidFill>
            <a:srgbClr val="FFFEFB"/>
          </a:solidFill>
          <a:ln w="12700">
            <a:solidFill>
              <a:srgbClr val="E5DDD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397530" y="4542036"/>
            <a:ext cx="400050" cy="400050"/>
          </a:xfrm>
          <a:prstGeom prst="roundRect">
            <a:avLst>
              <a:gd name="adj" fmla="val 19048"/>
            </a:avLst>
          </a:prstGeom>
          <a:solidFill>
            <a:srgbClr val="161413"/>
          </a:solidFill>
          <a:ln/>
        </p:spPr>
      </p:sp>
      <p:sp>
        <p:nvSpPr>
          <p:cNvPr id="38" name="Text 36"/>
          <p:cNvSpPr/>
          <p:nvPr/>
        </p:nvSpPr>
        <p:spPr>
          <a:xfrm>
            <a:off x="10391775" y="4596011"/>
            <a:ext cx="487759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E9DAB5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2nd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0969030" y="4425553"/>
            <a:ext cx="3314164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Apple App Store</a:t>
            </a:r>
            <a:endParaRPr lang="en-US" sz="1950" dirty="0"/>
          </a:p>
        </p:txBody>
      </p:sp>
      <p:sp>
        <p:nvSpPr>
          <p:cNvPr id="40" name="Text 38"/>
          <p:cNvSpPr/>
          <p:nvPr/>
        </p:nvSpPr>
        <p:spPr>
          <a:xfrm>
            <a:off x="10969030" y="4784328"/>
            <a:ext cx="3314164" cy="3123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iOS shell follows the channel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16028194" y="4596011"/>
            <a:ext cx="970756" cy="3302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6A32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Planned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1143000" y="5452269"/>
            <a:ext cx="5345708" cy="4148931"/>
          </a:xfrm>
          <a:prstGeom prst="roundRect">
            <a:avLst>
              <a:gd name="adj" fmla="val 1837"/>
            </a:avLst>
          </a:prstGeom>
          <a:solidFill>
            <a:srgbClr val="FFFEFB"/>
          </a:solidFill>
          <a:ln w="12700">
            <a:solidFill>
              <a:srgbClr val="E5DDD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479550" y="5750719"/>
            <a:ext cx="5139869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7219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NOW · BOTTOM-UP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479550" y="6176169"/>
            <a:ext cx="5139869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Start where it's real</a:t>
            </a:r>
            <a:endParaRPr lang="en-US" sz="2100" dirty="0"/>
          </a:p>
        </p:txBody>
      </p:sp>
      <p:sp>
        <p:nvSpPr>
          <p:cNvPr id="45" name="Text 43"/>
          <p:cNvSpPr/>
          <p:nvPr/>
        </p:nvSpPr>
        <p:spPr>
          <a:xfrm>
            <a:off x="1479550" y="6652419"/>
            <a:ext cx="4812786" cy="1466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75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 pilot runs in my own child's Kita. Every additional Kita pays </a:t>
            </a:r>
            <a:pPr algn="l" indent="0" marL="0">
              <a:lnSpc>
                <a:spcPct val="150000"/>
              </a:lnSpc>
              <a:buNone/>
            </a:pPr>
            <a:r>
              <a:rPr lang="en-US" sz="1875" dirty="0">
                <a:solidFill>
                  <a:srgbClr val="8F5C12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€15/mo just to cover infra </a:t>
            </a:r>
            <a:pPr algn="l" indent="0" marL="0">
              <a:lnSpc>
                <a:spcPct val="150000"/>
              </a:lnSpc>
              <a:buNone/>
            </a:pPr>
            <a:r>
              <a:rPr lang="en-US" sz="1875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— break-even around 15 orgs. Cheap, honest, and it builds the reference.</a:t>
            </a:r>
            <a:endParaRPr lang="en-US" sz="1875" dirty="0"/>
          </a:p>
        </p:txBody>
      </p:sp>
      <p:sp>
        <p:nvSpPr>
          <p:cNvPr id="46" name="Shape 44"/>
          <p:cNvSpPr/>
          <p:nvPr/>
        </p:nvSpPr>
        <p:spPr>
          <a:xfrm>
            <a:off x="6717308" y="5452269"/>
            <a:ext cx="5345906" cy="4148931"/>
          </a:xfrm>
          <a:prstGeom prst="roundRect">
            <a:avLst>
              <a:gd name="adj" fmla="val 1837"/>
            </a:avLst>
          </a:prstGeom>
          <a:solidFill>
            <a:srgbClr val="FFFEFB"/>
          </a:solidFill>
          <a:ln w="12700">
            <a:solidFill>
              <a:srgbClr val="E5DDD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053858" y="5750719"/>
            <a:ext cx="5140087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B07219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SCALE · CHANNEL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7053858" y="6176169"/>
            <a:ext cx="5140087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6141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Then sell through associations</a:t>
            </a:r>
            <a:endParaRPr lang="en-US" sz="2100" dirty="0"/>
          </a:p>
        </p:txBody>
      </p:sp>
      <p:sp>
        <p:nvSpPr>
          <p:cNvPr id="49" name="Text 47"/>
          <p:cNvSpPr/>
          <p:nvPr/>
        </p:nvSpPr>
        <p:spPr>
          <a:xfrm>
            <a:off x="7053858" y="6652419"/>
            <a:ext cx="4812991" cy="1824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50000"/>
              </a:lnSpc>
              <a:buNone/>
            </a:pPr>
            <a:r>
              <a:rPr lang="en-US" sz="1875" dirty="0">
                <a:solidFill>
                  <a:srgbClr val="3D363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Kita-association or Träger represents dozens of orgs. One sale onboards many at €15–25/org/mo — this is what repays the build. The DPO-ready privacy story makes the sale.</a:t>
            </a:r>
            <a:endParaRPr lang="en-US" sz="1875" dirty="0"/>
          </a:p>
        </p:txBody>
      </p:sp>
      <p:sp>
        <p:nvSpPr>
          <p:cNvPr id="50" name="Shape 48"/>
          <p:cNvSpPr/>
          <p:nvPr/>
        </p:nvSpPr>
        <p:spPr>
          <a:xfrm>
            <a:off x="12291815" y="5452269"/>
            <a:ext cx="4853186" cy="4148931"/>
          </a:xfrm>
          <a:prstGeom prst="roundRect">
            <a:avLst>
              <a:gd name="adj" fmla="val 1837"/>
            </a:avLst>
          </a:prstGeom>
          <a:solidFill>
            <a:srgbClr val="161413"/>
          </a:solidFill>
          <a:ln/>
        </p:spPr>
      </p:sp>
      <p:sp>
        <p:nvSpPr>
          <p:cNvPr id="51" name="Text 49"/>
          <p:cNvSpPr/>
          <p:nvPr/>
        </p:nvSpPr>
        <p:spPr>
          <a:xfrm>
            <a:off x="12615665" y="5942409"/>
            <a:ext cx="4626035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A89B8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WHY WE WIN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12615665" y="6405960"/>
            <a:ext cx="4331651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F7F4ED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 process change — just photograph the board.</a:t>
            </a:r>
            <a:endParaRPr lang="en-US" sz="1875" dirty="0"/>
          </a:p>
        </p:txBody>
      </p:sp>
      <p:sp>
        <p:nvSpPr>
          <p:cNvPr id="53" name="Shape 51"/>
          <p:cNvSpPr/>
          <p:nvPr/>
        </p:nvSpPr>
        <p:spPr>
          <a:xfrm>
            <a:off x="12615665" y="7244160"/>
            <a:ext cx="4205486" cy="9525"/>
          </a:xfrm>
          <a:prstGeom prst="rect">
            <a:avLst/>
          </a:prstGeom>
          <a:solidFill>
            <a:srgbClr val="3D3633"/>
          </a:solidFill>
          <a:ln/>
        </p:spPr>
      </p:sp>
      <p:sp>
        <p:nvSpPr>
          <p:cNvPr id="54" name="Text 52"/>
          <p:cNvSpPr/>
          <p:nvPr/>
        </p:nvSpPr>
        <p:spPr>
          <a:xfrm>
            <a:off x="12615665" y="7425135"/>
            <a:ext cx="4331651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F7F4ED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Privacy by construction — the DPO says yes.</a:t>
            </a:r>
            <a:endParaRPr lang="en-US" sz="1875" dirty="0"/>
          </a:p>
        </p:txBody>
      </p:sp>
      <p:sp>
        <p:nvSpPr>
          <p:cNvPr id="55" name="Shape 53"/>
          <p:cNvSpPr/>
          <p:nvPr/>
        </p:nvSpPr>
        <p:spPr>
          <a:xfrm>
            <a:off x="12615665" y="8263335"/>
            <a:ext cx="4205486" cy="9525"/>
          </a:xfrm>
          <a:prstGeom prst="rect">
            <a:avLst/>
          </a:prstGeom>
          <a:solidFill>
            <a:srgbClr val="3D3633"/>
          </a:solidFill>
          <a:ln/>
        </p:spPr>
      </p:sp>
      <p:sp>
        <p:nvSpPr>
          <p:cNvPr id="56" name="Text 54"/>
          <p:cNvSpPr/>
          <p:nvPr/>
        </p:nvSpPr>
        <p:spPr>
          <a:xfrm>
            <a:off x="12615665" y="8444310"/>
            <a:ext cx="4331651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F7F4ED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A live, compliant reference build — not a mockup.</a:t>
            </a:r>
            <a:endParaRPr lang="en-US" sz="1875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43000" y="2593181"/>
            <a:ext cx="16002000" cy="12700"/>
          </a:xfrm>
          <a:prstGeom prst="rect">
            <a:avLst/>
          </a:prstGeom>
          <a:solidFill>
            <a:srgbClr val="3D3633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800100"/>
            <a:ext cx="17602200" cy="8151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6000" spc="-120" kern="0" dirty="0">
                <a:solidFill>
                  <a:srgbClr val="F7F4ED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AI advises. PII is masked first. A human decides.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1143000" y="1847056"/>
            <a:ext cx="6074985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A89B8B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Proven on a live, GDPR-by-construction build.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6894314" y="1786731"/>
            <a:ext cx="6011863" cy="463550"/>
          </a:xfrm>
          <a:prstGeom prst="roundRect">
            <a:avLst>
              <a:gd name="adj" fmla="val 50000"/>
            </a:avLst>
          </a:prstGeom>
          <a:solidFill>
            <a:srgbClr val="22341F"/>
          </a:solidFill>
          <a:ln/>
        </p:spPr>
      </p:sp>
      <p:sp>
        <p:nvSpPr>
          <p:cNvPr id="6" name="Shape 4"/>
          <p:cNvSpPr/>
          <p:nvPr/>
        </p:nvSpPr>
        <p:spPr>
          <a:xfrm>
            <a:off x="7065764" y="1966119"/>
            <a:ext cx="104775" cy="104775"/>
          </a:xfrm>
          <a:prstGeom prst="ellipse">
            <a:avLst/>
          </a:prstGeom>
          <a:solidFill>
            <a:srgbClr val="3D7A5A"/>
          </a:solidFill>
          <a:ln/>
        </p:spPr>
      </p:sp>
      <p:sp>
        <p:nvSpPr>
          <p:cNvPr id="7" name="Text 5"/>
          <p:cNvSpPr/>
          <p:nvPr/>
        </p:nvSpPr>
        <p:spPr>
          <a:xfrm>
            <a:off x="7275314" y="1872456"/>
            <a:ext cx="5623196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9EC3A6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Verdict — ship &amp; validate, then pursue the channel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" y="4352528"/>
            <a:ext cx="17602200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spc="252" kern="0" dirty="0">
                <a:solidFill>
                  <a:srgbClr val="75695F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Q &amp; 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43000" y="4816078"/>
            <a:ext cx="8507730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E9DAB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Does a child's name reach the AI?</a:t>
            </a:r>
            <a:endParaRPr lang="en-US" sz="1950" dirty="0"/>
          </a:p>
        </p:txBody>
      </p:sp>
      <p:sp>
        <p:nvSpPr>
          <p:cNvPr id="10" name="Text 8"/>
          <p:cNvSpPr/>
          <p:nvPr/>
        </p:nvSpPr>
        <p:spPr>
          <a:xfrm>
            <a:off x="1143000" y="5203428"/>
            <a:ext cx="850773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C9BFA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 — masked locally, fail-closed, before the call.</a:t>
            </a:r>
            <a:endParaRPr lang="en-US" sz="1875" dirty="0"/>
          </a:p>
        </p:txBody>
      </p:sp>
      <p:sp>
        <p:nvSpPr>
          <p:cNvPr id="11" name="Text 9"/>
          <p:cNvSpPr/>
          <p:nvPr/>
        </p:nvSpPr>
        <p:spPr>
          <a:xfrm>
            <a:off x="9410700" y="4816078"/>
            <a:ext cx="8507730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E9DAB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Why Limited risk, not High?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9410700" y="5203428"/>
            <a:ext cx="850773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C9BFA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 Annex III area — no decision about a person.</a:t>
            </a:r>
            <a:endParaRPr lang="en-US" sz="1875" dirty="0"/>
          </a:p>
        </p:txBody>
      </p:sp>
      <p:sp>
        <p:nvSpPr>
          <p:cNvPr id="13" name="Text 11"/>
          <p:cNvSpPr/>
          <p:nvPr/>
        </p:nvSpPr>
        <p:spPr>
          <a:xfrm>
            <a:off x="1143000" y="5708253"/>
            <a:ext cx="8507730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E9DAB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What if the AI mis-reads?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1143000" y="6095604"/>
            <a:ext cx="850773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C9BFA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Schema-validate routes to manual; admin confirms.</a:t>
            </a:r>
            <a:endParaRPr lang="en-US" sz="1875" dirty="0"/>
          </a:p>
        </p:txBody>
      </p:sp>
      <p:sp>
        <p:nvSpPr>
          <p:cNvPr id="15" name="Text 13"/>
          <p:cNvSpPr/>
          <p:nvPr/>
        </p:nvSpPr>
        <p:spPr>
          <a:xfrm>
            <a:off x="9410700" y="5708253"/>
            <a:ext cx="8507730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E9DAB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US-hosted LLM — GDPR issue?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9410700" y="6095604"/>
            <a:ext cx="850773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C9BFA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Only redacted text crosses; EU swap is one module.</a:t>
            </a:r>
            <a:endParaRPr lang="en-US" sz="1875" dirty="0"/>
          </a:p>
        </p:txBody>
      </p:sp>
      <p:sp>
        <p:nvSpPr>
          <p:cNvPr id="17" name="Text 15"/>
          <p:cNvSpPr/>
          <p:nvPr/>
        </p:nvSpPr>
        <p:spPr>
          <a:xfrm>
            <a:off x="1143000" y="6600429"/>
            <a:ext cx="8507730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E9DAB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Will small Kitas adopt it?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143000" y="6987778"/>
            <a:ext cx="850773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C9BFA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No process change — just photograph the board.</a:t>
            </a:r>
            <a:endParaRPr lang="en-US" sz="1875" dirty="0"/>
          </a:p>
        </p:txBody>
      </p:sp>
      <p:sp>
        <p:nvSpPr>
          <p:cNvPr id="19" name="Text 17"/>
          <p:cNvSpPr/>
          <p:nvPr/>
        </p:nvSpPr>
        <p:spPr>
          <a:xfrm>
            <a:off x="9410700" y="6600429"/>
            <a:ext cx="8507730" cy="368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950" b="1" dirty="0">
                <a:solidFill>
                  <a:srgbClr val="E9DAB5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Is it really live?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410700" y="6987778"/>
            <a:ext cx="8507730" cy="371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875" dirty="0">
                <a:solidFill>
                  <a:srgbClr val="C9BFAE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Yes — kita-connect.cloud, first Kita testing now.</a:t>
            </a:r>
            <a:endParaRPr lang="en-US" sz="1875" dirty="0"/>
          </a:p>
        </p:txBody>
      </p:sp>
      <p:sp>
        <p:nvSpPr>
          <p:cNvPr id="21" name="Shape 19"/>
          <p:cNvSpPr/>
          <p:nvPr/>
        </p:nvSpPr>
        <p:spPr>
          <a:xfrm>
            <a:off x="1143000" y="8991600"/>
            <a:ext cx="16002000" cy="12700"/>
          </a:xfrm>
          <a:prstGeom prst="rect">
            <a:avLst/>
          </a:prstGeom>
          <a:solidFill>
            <a:srgbClr val="3D3633"/>
          </a:solidFill>
          <a:ln/>
        </p:spPr>
      </p:sp>
      <p:sp>
        <p:nvSpPr>
          <p:cNvPr id="22" name="Text 20"/>
          <p:cNvSpPr/>
          <p:nvPr/>
        </p:nvSpPr>
        <p:spPr>
          <a:xfrm>
            <a:off x="1143000" y="9271000"/>
            <a:ext cx="2715855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F7F4ED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kita-connect.cloud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972800" y="9271000"/>
            <a:ext cx="6789420" cy="330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A89B8B"/>
                </a:solidFill>
                <a:latin typeface="Geist Mono" pitchFamily="34" charset="0"/>
                <a:ea typeface="Geist Mono" pitchFamily="34" charset="-122"/>
                <a:cs typeface="Geist Mono" pitchFamily="34" charset="-120"/>
              </a:rPr>
              <a:t>github.com/eugnmueller-87/final-project-eugen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2026-06-18T08:55:09Z</dcterms:created>
  <dcterms:modified xsi:type="dcterms:W3CDTF">2026-06-18T08:55:09Z</dcterms:modified>
</cp:coreProperties>
</file>